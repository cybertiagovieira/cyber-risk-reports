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Exposure &amp; Executive Risk Outlook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85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915E"/>
                </a:solidFill>
              </a:rPr>
              <a:t>Conclusion 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Healthcare cyber risk in the period was most visible through suppliers: manufacturer outages and an outsourced laboratory breach reduced care capacity, while public loss data stayed thin in Europe.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183112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5852160"/>
                <a:gridCol w="13990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Principal judgement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base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Supplier and manufacturer outages were the most publicly evidenced care channel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Three material manufacturer incident filings (March to September 2026); NHS England controlled allocation of six product lines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Loss of clinical information, not device compromise, drives care disruption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French observatory: 288 of 764 reports with degraded or interrupted care in 2025; a Belgian hospital ran on paper for about three weeks (media-reported)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Credential and access abuse is the main data-exposure pathway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French practice-software breach of 15.8 million administrative records; EUR 500,000 French fine for missing multi-factor authentication (MFA)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Medium-high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State-linked hacktivist activity has reached the supply chain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persona the US Federal Bureau of Investigation (FBI) links to Iranian intelligence claimed a manufacturer attack (media-reported; the company does not attribute)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EU maturity lags sector importance and legal coverage is uneven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EU cyber agency ENISA keeps health in its risk zone (May 2026); four Member States referred to court over the NIS2 cyber directive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029200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5138928"/>
            <a:ext cx="3545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915E"/>
                </a:solidFill>
              </a:rPr>
              <a:t>Interpretation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Exposure concentrates where many providers depend on one manufacturer, laboratory, software platform or claims processor. Stock buffers and substitute capacity, not technical recovery, set the time before patients are affected.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85818" y="5138928"/>
            <a:ext cx="0" cy="128016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22978" y="5138928"/>
            <a:ext cx="3545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915E"/>
                </a:solidFill>
              </a:rPr>
              <a:t>Management implication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Financial-system relevance is conditional: counterparty earnings and working capital, provider liquidity if claims stop, fines and litigation, and public budgets. Monitor supplier disclosures and single-source dependencies.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05877" y="5138928"/>
            <a:ext cx="0" cy="128016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43037" y="5138928"/>
            <a:ext cx="3545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915E"/>
                </a:solidFill>
              </a:rPr>
              <a:t>Limitation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Evidence is public and disclosure-driven: listed manufacturers report, European public providers rarely publish costs. No clinical harm is attributed and no bank exposure is inferred.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Threats &amp; Top 5 Cyber Attacks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85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915E"/>
                </a:solidFill>
              </a:rPr>
              <a:t>Conclusion 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Five named incidents meet the evidence standard. Three hit manufacturers, showing that supplier platforms, not clinical devices, carried the most widely disclosed care effects.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18311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291840"/>
                <a:gridCol w="53766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Named incident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Subsector, place, date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Consequence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Stryker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Medical devices; global, Irish headquarters; March 2026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Production, ordering and shipping disrupted for about three weeks; NHS rationed six product lines; some patient cases rescheduled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Boston Scientific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Medical devices; global; August 2026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Plants and distribution disrupted; guidance expected to be missed; remote-monitoring activations paused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Cegedim Santé MLM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Practice software; France; disclosed February 2026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15.8 million administrative records published; ministers summoned the vendor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West Pharmaceutical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Packaging and delivery components; global; May 2026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Systems encrypted and data stolen; sites restarted in stages; fully operational after 16 days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 Monica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Acute hospital; Belgium; January 2026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Surgery cancelled, seven patients transferred, emergency capacity cut; impact detail media-reported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4443984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</a:rPr>
              <a:t>Threat patterns, not incidents: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</a:rPr>
              <a:t>identity and administration-plane abuse; ransomware and destructive intrusion; credential misuse at software vendors; outsourced-service concentration; geopolitical targeting.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5029200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5138928"/>
            <a:ext cx="3545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915E"/>
                </a:solidFill>
              </a:rPr>
              <a:t>Interpretation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One compromised identity or management environment can stop manufacturing worldwide; vendor accounts without strong authentication expose the patients of many practices at once.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85818" y="5138928"/>
            <a:ext cx="0" cy="128016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22978" y="5138928"/>
            <a:ext cx="3545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915E"/>
                </a:solidFill>
              </a:rPr>
              <a:t>Management implication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Track cyber disclosures by Healthcare suppliers and processors, and test whether counterparties depend on one manufacturer or software platform.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05877" y="5138928"/>
            <a:ext cx="0" cy="128016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43037" y="5138928"/>
            <a:ext cx="3545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915E"/>
                </a:solidFill>
              </a:rPr>
              <a:t>Limitation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Selection depends on public disclosure. Distributor and telehealth evidence is thin; a distributor incident was excluded because its scope was undetermined.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Impact: Healthcare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85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915E"/>
                </a:solidFill>
              </a:rPr>
              <a:t>Conclusion 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Quantified losses in the period come from corporate filings and fines. European providers disclosed none, and care effects appear as cancelled or reduced activity rather than money.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18311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949440"/>
                <a:gridCol w="19476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 type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evidence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and margin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Stryker: adjusted earnings per share (EPS) down 8.5% and adjusted operating margin down 180 basis points; full-year guidance kept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 2026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Guidance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Boston Scientific: third-quarter and full-year guidance expected to be missed; amount due 28 October 2026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 2026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Response cost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West USD 6.9 million, combined with legal fees; claims processor Conduent USD 25 million (pre-period comparator)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2026; 2025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Care-service reduction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Dutch screening invitations cut by 50%; NHS controlled allocation of six product lines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2025-2026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Regulatory outcome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French private hospital fined EUR 500,000; UK NHS IT provider fined GBP 3.08 million (pre-period comparator)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2026; 2025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Liquidity support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 Healthcare precedent: USD 8.9 billion of loans advanced to US providers in nine months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Insurance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insurance recovery disclosed in the filings reviewed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029200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5138928"/>
            <a:ext cx="3545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915E"/>
                </a:solidFill>
              </a:rPr>
              <a:t>Interpretation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Large manufacturers show a timing shock: Stryker returned to 9.0% organic growth the next quarter. Claims-clearing failure transmits faster, straight into provider cash flow.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85818" y="5138928"/>
            <a:ext cx="0" cy="128016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22978" y="5138928"/>
            <a:ext cx="3545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915E"/>
                </a:solidFill>
              </a:rPr>
              <a:t>Management implication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For Healthcare counterparties, watch guidance changes, single-processor dependency and backlog funding. A survey recovery cost of USD 1.02 million is a benchmark, not an entity estimate.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05877" y="5138928"/>
            <a:ext cx="0" cy="128016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43037" y="5138928"/>
            <a:ext cx="3545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915E"/>
                </a:solidFill>
              </a:rPr>
              <a:t>Limitation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Figures differ in currency, period and definition and are not added. Absence of European cost data is a disclosure gap, not evidence of low loss.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Impact: Worst-Case Scenarios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85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915E"/>
                </a:solidFill>
              </a:rPr>
              <a:t>Conclusion 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Three distinct stress pathways show how one cyber event could reach many providers. They are structured narratives built from 2024-2026 cases, not forecasts, patient-harm estimates or loss estimates.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1831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  <a:gridCol w="2926080"/>
                <a:gridCol w="22219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 and propagation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transmission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signposts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 Common digital dependency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 electronic health record (EHR), identity or claims platform compromised; every dependent provider loses scheduling, records or claims at once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 cash-flow delay; vendor liability; notification cost and fines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 disclosures; identity-campaign alerts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B. Targeted operational disruption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Ransomware forces a hospital group or laboratory offline; paper operation and diversion to neighbouring providers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Lost activity income; recovery spend; covenant pressure for leveraged operators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Regional ransomware claims; emergency diversion notices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C. Supply-chain concentration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Manufacturer, distributor or laboratory stops; stock buffers (about two weeks in the UK Stryker case) and substitute capacity run out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 earnings and guidance; deferred procedures; backlog funding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Material-incident filings; national supply notices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029200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5138928"/>
            <a:ext cx="3545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915E"/>
                </a:solidFill>
              </a:rPr>
              <a:t>Interpretation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The scenarios differ by point of failure: a shared platform fails everywhere at once, a single operator fails locally, a supplier fails in sequence as buffers deplete.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85818" y="5138928"/>
            <a:ext cx="0" cy="128016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22978" y="5138928"/>
            <a:ext cx="3545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915E"/>
                </a:solidFill>
              </a:rPr>
              <a:t>Management implication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Map which Healthcare counterparties rely on shared platforms, on one dominant regional operator, or on single-source suppliers, and how long their buffers last.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05877" y="5138928"/>
            <a:ext cx="0" cy="128016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43037" y="5138928"/>
            <a:ext cx="3545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915E"/>
                </a:solidFill>
              </a:rPr>
              <a:t>Limitation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No probability or duration is assigned. Offline modes, intact backups, consigned stock and multi-sourcing can each limit the effect.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Dutch Screening Laboratory Breach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85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915E"/>
                </a:solidFill>
              </a:rPr>
              <a:t>Conclusion 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A July 2025 data breach at one outsourced laboratory became an in-period capacity problem: the Dutch national cervical screening programme halved primary invitations five months later.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1506" y="2395728"/>
            <a:ext cx="8948684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8354" y="2322576"/>
            <a:ext cx="146304" cy="146304"/>
          </a:xfrm>
          <a:prstGeom prst="ellipse">
            <a:avLst/>
          </a:prstGeom>
          <a:solidFill>
            <a:srgbClr val="00915E"/>
          </a:solidFill>
          <a:ln w="6350">
            <a:solidFill>
              <a:srgbClr val="0091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" y="1901952"/>
            <a:ext cx="20908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15E"/>
                </a:solidFill>
              </a:rPr>
              <a:t>July 2025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560320"/>
            <a:ext cx="205429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</a:rPr>
              <a:t>Laboratory hacked; programme operator informed more than a month later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785525" y="2322576"/>
            <a:ext cx="146304" cy="146304"/>
          </a:xfrm>
          <a:prstGeom prst="ellipse">
            <a:avLst/>
          </a:prstGeom>
          <a:solidFill>
            <a:srgbClr val="00915E"/>
          </a:solidFill>
          <a:ln w="6350">
            <a:solidFill>
              <a:srgbClr val="0091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13243" y="1901952"/>
            <a:ext cx="20908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15E"/>
                </a:solidFill>
              </a:rPr>
              <a:t>August 2025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831531" y="2560320"/>
            <a:ext cx="205429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</a:rPr>
              <a:t>Laboratory suspended; 941,000 participants to be written to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22696" y="2322576"/>
            <a:ext cx="146304" cy="146304"/>
          </a:xfrm>
          <a:prstGeom prst="ellipse">
            <a:avLst/>
          </a:prstGeom>
          <a:solidFill>
            <a:srgbClr val="00915E"/>
          </a:solidFill>
          <a:ln w="6350">
            <a:solidFill>
              <a:srgbClr val="0091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50414" y="1901952"/>
            <a:ext cx="20908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15E"/>
                </a:solidFill>
              </a:rPr>
              <a:t>From August 2025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68702" y="2560320"/>
            <a:ext cx="205429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</a:rPr>
              <a:t>Two backup laboratories run at about 150% of capacity for six months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59867" y="2322576"/>
            <a:ext cx="146304" cy="146304"/>
          </a:xfrm>
          <a:prstGeom prst="ellipse">
            <a:avLst/>
          </a:prstGeom>
          <a:solidFill>
            <a:srgbClr val="00915E"/>
          </a:solidFill>
          <a:ln w="6350">
            <a:solidFill>
              <a:srgbClr val="0091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87585" y="1901952"/>
            <a:ext cx="20908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15E"/>
                </a:solidFill>
              </a:rPr>
              <a:t>22 December 2025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05873" y="2560320"/>
            <a:ext cx="205429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</a:rPr>
              <a:t>Primary invitations cut by 50%; follow-up tests continue in full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497038" y="2322576"/>
            <a:ext cx="146304" cy="146304"/>
          </a:xfrm>
          <a:prstGeom prst="ellipse">
            <a:avLst/>
          </a:prstGeom>
          <a:solidFill>
            <a:srgbClr val="00915E"/>
          </a:solidFill>
          <a:ln w="6350">
            <a:solidFill>
              <a:srgbClr val="0091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24756" y="1901952"/>
            <a:ext cx="20908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15E"/>
                </a:solidFill>
              </a:rPr>
              <a:t>13 May 2026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543044" y="2560320"/>
            <a:ext cx="205429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</a:rPr>
              <a:t>Inspectorate finds the laboratory below the Dutch NEN 7510 health information-security norm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639312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3749040"/>
            <a:ext cx="54557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915E"/>
                </a:solidFill>
              </a:rPr>
              <a:t>Mechanism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Data was stolen, not encrypted. The service effect came from suspending an untrusted supplier when only two substitute laboratories existed.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95848" y="3749040"/>
            <a:ext cx="0" cy="114300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33008" y="3749040"/>
            <a:ext cx="54557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915E"/>
                </a:solidFill>
              </a:rPr>
              <a:t>Outcome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Regulatory: inspectorate finding; data-protection investigation pending. Financial: no cost disclosed. Recovery depended on re-establishing trust in the supplier.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5029200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" y="5138928"/>
            <a:ext cx="3545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915E"/>
                </a:solidFill>
              </a:rPr>
              <a:t>Read-across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The same buffer-driven mechanism appeared in the UK when a manufacturer outage left about two weeks of stock.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85818" y="5138928"/>
            <a:ext cx="0" cy="128016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22978" y="5138928"/>
            <a:ext cx="3545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915E"/>
                </a:solidFill>
              </a:rPr>
              <a:t>Management implication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Supplier assurance needs independent security evidence and a tested substitution plan with capacity figures, as the Dutch inspectorate now expects of providers.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5877" y="5138928"/>
            <a:ext cx="0" cy="128016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43037" y="5138928"/>
            <a:ext cx="3545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915E"/>
                </a:solidFill>
              </a:rPr>
              <a:t>Limitation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The case shows no clinical harm, cost or attacker identity, and concerns one programme with three laboratories; larger supplier pools may absorb a similar loss.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 Dependencies &amp; Regulatory Outlook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85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915E"/>
                </a:solidFill>
              </a:rPr>
              <a:t>Conclusion 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Healthcare concentration sits in shared suppliers and platforms, while the EU and UK rules that address it are partly unapplied, deferred or still in Parliament.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47548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337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Dependency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Observed chain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 IT platform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Manufacturer network → ordering and shipping → hospital stock → procedures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Outsourced laboratory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Laboratory → national programme → backup laboratories → invitations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Practice software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 platform → about 1,500 doctor users → administrative patient records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Claims clearing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Clearing house → claims → provider cash flow (US precedent)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874520"/>
          <a:ext cx="619963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36850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at 14 October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NIS2 (EU network and information security directive)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Applies through national law; four Member States referred to the Court of Justice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 Directive (EU entity-resilience directive)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Identification deadline of 17 July 2026 passed; seven Member States referred for non-transposition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Cyber Resilience Act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Reporting applies from 11 September 2026; excludes regulated medical devices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European Health Data Space (EHDS)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force; most obligations from March 2029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Act for medical devices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High-risk duties deferred to 2 August 2028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 Cyber Security and Resilience Bill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Bill only: Lords Report stage, no Royal Assent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HIPAA Security Rule update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Proposal only; no final rule issued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2920" y="5029200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02920" y="5138928"/>
            <a:ext cx="3545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915E"/>
                </a:solidFill>
              </a:rPr>
              <a:t>Interpretation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Device product security sits under medical-device law; manufacturers' own networks fall under NIS2, which is where the 2026 manufacturer outages occurred.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185818" y="5138928"/>
            <a:ext cx="0" cy="128016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322978" y="5138928"/>
            <a:ext cx="3545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915E"/>
                </a:solidFill>
              </a:rPr>
              <a:t>Management implication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Keep a register that separates enacted, applicable, deferred and proposed rules; do not treat UK or US proposals as binding.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005877" y="5138928"/>
            <a:ext cx="0" cy="128016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143037" y="5138928"/>
            <a:ext cx="3545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915E"/>
                </a:solidFill>
              </a:rPr>
              <a:t>Limitation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Applicability depends on national transposition, entity size and identification decisions; some instruments were read in part.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Strategies &amp; Security Framework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85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915E"/>
                </a:solidFill>
              </a:rPr>
              <a:t>Conclusion 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Priorities follow the observed pathways: control supplier administration planes, map single-source dependencies, assure outsourced clinical services, and treat MFA and tested restoration as baseline.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18311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97680"/>
                <a:gridCol w="2377440"/>
                <a:gridCol w="24048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Exposure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 or challenge question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of completion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Monitoring trigger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 identity and management planes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there evidence of phishing-resistant multi-factor authentication (MFA) and approval controls for mass device actions?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Attestation or post-incident disclosure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Identity-campaign alerts; material-incident filings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Single-source products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counterparties rely on one manufacturer, and how many days of stock do they hold?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Single-source map with buffer days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supply notices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Outsourced laboratories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 independent security assessment and a tested substitute with stated capacity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Certificate; exercised backup protocol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Inspectorate findings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 access and detection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 MFA on remote clinical access and real-time alerting as baseline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 evidence; alert tests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Data-protection fines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Claims concentration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provider clients would need bridging liquidity if one processor stopped?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Dependency map; contingency terms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Processor disclosures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029200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5138928"/>
            <a:ext cx="3545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915E"/>
                </a:solidFill>
              </a:rPr>
              <a:t>Interpretation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Each action targets a mechanism seen in the period rather than a generic control list. Voluntary frameworks such as NIST CSF 2.0 and IEC 81001-5-1 can support design but are not law.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85818" y="5138928"/>
            <a:ext cx="0" cy="128016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22978" y="5138928"/>
            <a:ext cx="3545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915E"/>
                </a:solidFill>
              </a:rPr>
              <a:t>Management implication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1LoD owners should refresh Healthcare counterparty reviews after supplier disclosures and escalate only on source-supported changes in exposure.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05877" y="5138928"/>
            <a:ext cx="0" cy="128016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43037" y="5138928"/>
            <a:ext cx="3545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915E"/>
                </a:solidFill>
              </a:rPr>
              <a:t>Limitation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Actions are sector priorities, not findings about any bank's or counterparty's controls; completion evidence depends on what counterparties disclose.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idence Emerald">
  <a:themeElements>
    <a:clrScheme name="Evidence Emerald">
      <a:dk1>
        <a:srgbClr val="1A1A1A"/>
      </a:dk1>
      <a:lt1>
        <a:srgbClr val="FFFFFF"/>
      </a:lt1>
      <a:dk2>
        <a:srgbClr val="3A3A3A"/>
      </a:dk2>
      <a:lt2>
        <a:srgbClr val="F2F2F2"/>
      </a:lt2>
      <a:accent1>
        <a:srgbClr val="00915E"/>
      </a:accent1>
      <a:accent2>
        <a:srgbClr val="5C5C5C"/>
      </a:accent2>
      <a:accent3>
        <a:srgbClr val="9BC9B4"/>
      </a:accent3>
      <a:accent4>
        <a:srgbClr val="BFBFBF"/>
      </a:accent4>
      <a:accent5>
        <a:srgbClr val="00704A"/>
      </a:accent5>
      <a:accent6>
        <a:srgbClr val="E8F4EF"/>
      </a:accent6>
      <a:hlink>
        <a:srgbClr val="00704A"/>
      </a:hlink>
      <a:folHlink>
        <a:srgbClr val="5C5C5C"/>
      </a:folHlink>
    </a:clrScheme>
    <a:fontScheme name="Evidence Emeral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- Cyber Sectorial Analysis</dc:title>
  <dc:subject>PptxGenJS Presentation</dc:subject>
  <dc:creator>Cyber Sectorial Analysis</dc:creator>
  <cp:lastModifiedBy>Cyber Sectorial Analysis</cp:lastModifiedBy>
  <cp:revision>1</cp:revision>
  <dcterms:created xsi:type="dcterms:W3CDTF">2026-10-15T16:51:05Z</dcterms:created>
  <dcterms:modified xsi:type="dcterms:W3CDTF">2026-10-15T16:51:05Z</dcterms:modified>
</cp:coreProperties>
</file>