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 growth</c:v>
                </c:pt>
              </c:strCache>
            </c:strRef>
          </c:tx>
          <c:spPr>
            <a:solidFill>
              <a:srgbClr val="00915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</c:v>
                </c:pt>
                <c:pt idx="1">
                  <c:v>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9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Guidance low</c:v>
                </c:pt>
              </c:strCache>
            </c:strRef>
          </c:tx>
          <c:spPr>
            <a:solidFill>
              <a:srgbClr val="1A1A1A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ash"/>
            <c:size val="30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8.3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Guidance high</c:v>
                </c:pt>
              </c:strCache>
            </c:strRef>
          </c:tx>
          <c:spPr>
            <a:solidFill>
              <a:srgbClr val="1A1A1A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ash"/>
            <c:size val="30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9.5</c:v>
                </c:pt>
                <c:pt idx="1">
                  <c:v>9.3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billion</c:v>
                </c:pt>
              </c:strCache>
            </c:strRef>
          </c:tx>
          <c:spPr>
            <a:solidFill>
              <a:srgbClr val="00915E"/>
            </a:solidFill>
            <a:effectLst/>
          </c:spPr>
          <c:invertIfNegative val="0"/>
          <c:dLbls>
            <c:numFmt formatCode="&quot;USD &quot;0.0&quot;bn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5C5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Advanced</c:v>
                  </c:pt>
                  <c:pt idx="1">
                    <c:v>Repaid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8.9</c:v>
                </c:pt>
                <c:pt idx="1">
                  <c:v>3.2</c:v>
                </c:pt>
              </c:numCache>
            </c:numRef>
          </c:val>
        </c:ser>
        <c:dLbls>
          <c:numFmt formatCode="&quot;USD &quot;0.0&quot;bn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00915E"/>
            </a:solidFill>
            <a:effectLst/>
          </c:spPr>
          <c:invertIfNegative val="0"/>
          <c:dLbls>
            <c:numFmt formatCode="0&quot; days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Stryker (full manufacturing)</c:v>
                  </c:pt>
                  <c:pt idx="1">
                    <c:v>West</c:v>
                  </c:pt>
                  <c:pt idx="2">
                    <c:v>Boston Sci. (approx.)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16</c:v>
                </c:pt>
                <c:pt idx="2">
                  <c:v>14</c:v>
                </c:pt>
              </c:numCache>
            </c:numRef>
          </c:val>
        </c:ser>
        <c:dLbls>
          <c:numFmt formatCode="0&quot; days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invitations, % of planned</c:v>
                </c:pt>
              </c:strCache>
            </c:strRef>
          </c:tx>
          <c:spPr>
            <a:solidFill>
              <a:srgbClr val="5C5C5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22 Dec (planned level)</c:v>
                  </c:pt>
                  <c:pt idx="1">
                    <c:v>From 22 Dec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Thousands</c:v>
                </c:pt>
              </c:strCache>
            </c:strRef>
          </c:tx>
          <c:spPr>
            <a:solidFill>
              <a:srgbClr val="0091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C5C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Notified, 19-20 Aug 2025</c:v>
                  </c:pt>
                  <c:pt idx="1">
                    <c:v>Further confirmed (approx.), 29 Aug</c:v>
                  </c:pt>
                  <c:pt idx="2">
                    <c:v>All participants to be written 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405</c:v>
                </c:pt>
                <c:pt idx="1">
                  <c:v>230</c:v>
                </c:pt>
                <c:pt idx="2">
                  <c:v>941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48.0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Exposure &amp; Executive Risk Outlook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cyber risk in the period was most visible through suppliers: manufacturer outages and an outsourced laboratory breach reduced care capacity, while public loss data stayed thin in Europe.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47088"/>
            <a:ext cx="255643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manufacturers filed material cyber-incident reports, March to September 2026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79394" y="1847088"/>
            <a:ext cx="255643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French health incident reports in 2025 involved degraded or interrupted care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19374" y="1920240"/>
            <a:ext cx="0" cy="8229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5868" y="1847088"/>
            <a:ext cx="255643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15.8m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patient records exposed through one practice-software vendor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5848" y="1920240"/>
            <a:ext cx="0" cy="8229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32341" y="1847088"/>
            <a:ext cx="255643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weeks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UK stock estimated to remain a week into a supplier outage; six NHS lines rationed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72321" y="1920240"/>
            <a:ext cx="0" cy="8229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2608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017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judgement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017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base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27832"/>
            <a:ext cx="758952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273552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Supplier outages were the most publicly evidenced care channel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273552"/>
            <a:ext cx="374904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manufacturer filings cite global production, ordering or shipping disruption; NHS England rationed six lines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330098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330098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33009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33009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69792"/>
            <a:ext cx="758952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3715512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Lost clinical information, not device compromise, drives disruption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715512"/>
            <a:ext cx="3749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Belgian hospital ran on paper for about three weeks (media-reported); connected products reported unaffected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898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374294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374294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374294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374294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87012"/>
            <a:ext cx="758952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4332732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Credential and access abuse is the main data-exposure pathway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4332732"/>
            <a:ext cx="3749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and hospital records exposed via accounts and remote access; EUR 500,000 French fine for missing multi-factor authentication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269480" y="45156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Medium-high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69480" y="436016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2360" y="436016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436016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436016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904232"/>
            <a:ext cx="758952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4949952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State-linked hacktivist activity has reached the supply chain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4949952"/>
            <a:ext cx="3749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the FBI (US federal police) links to Iranian intelligence claimed a manufacturer attack (media-reported; company does not attribute)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5132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69480" y="497738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52360" y="497738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49773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18120" y="49773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5521452"/>
            <a:ext cx="758952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2920" y="5567172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EU maturity lags sector importance; legal coverage is uneven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3383280" y="5567172"/>
            <a:ext cx="374904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ENISA, the EU cyber agency, keeps health in its risk zone; four states face court over the NIS2 security directive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269480" y="57500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69480" y="559460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52360" y="5594604"/>
            <a:ext cx="118872" cy="118872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35240" y="559460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559460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47888" y="3017520"/>
            <a:ext cx="0" cy="301752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412480" y="3017520"/>
            <a:ext cx="32762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concentrates where many providers depend on one manufacturer, laboratory, software platform or claims processor. Stock buffers and substitute capacity, not technical recovery, set the time before patients are affected.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0" y="4553712"/>
            <a:ext cx="3276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Financial-system relevance is conditional: counterparty earnings and working capital, provider liquidity if claims stop, fines and litigation, and public budgets. Monitor supplier disclosures and single-source dependencies.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public and disclosure-driven: listed manufacturers report, European public providers rarely publish costs. No clinical harm is attributed and no bank exposure is inferred.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Threats &amp; Top 5 Cyber Attacks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named incidents meet the evidence standard. Three hit manufacturers, showing that supplier platforms, not clinical devices, carried the most widely disclosed care effects.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3408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Stryker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devices; global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2350008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Production, ordering and shipping disrupted; NHS rationed six product lines; some patient cases rescheduled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980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Boston Scientific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devices; global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807208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and distribution disrupted; guidance expected to be missed; remote-monitoring activations paused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552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Cegedim Santé MLM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software; France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264408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 million administrative records published; ministers summoned the vendor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7124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West Pharmaceutical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packaging and devices; global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3721608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encrypted and data stolen; sites restarted in stages; fully operational after 16 days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69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AZ Monica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hospital; Belgium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178808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 cancelled, seven patients transferred, emergency capacity cut (media-reported)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" y="46451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Bar: to full or substantial recovery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4645152"/>
            <a:ext cx="1451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bar: media-reported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697730" y="4645152"/>
            <a:ext cx="2398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Dashed: detection window, start approximate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42632" y="4645152"/>
            <a:ext cx="11361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Diamond: disclosure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725662" y="4645152"/>
            <a:ext cx="17670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line: evidence cut-off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0482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incident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048256"/>
            <a:ext cx="3916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2066544"/>
            <a:ext cx="321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035808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7520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9492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9492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72196" y="2066544"/>
            <a:ext cx="321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72196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94168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94168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26872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345160" y="1865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26872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59576" y="2066544"/>
            <a:ext cx="3005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9576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60083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60083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92788" y="2066544"/>
            <a:ext cx="321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92788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14759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14759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7464" y="2066544"/>
            <a:ext cx="321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7464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9435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9435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02140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02140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34844" y="2066544"/>
            <a:ext cx="321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34844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56816" y="2066544"/>
            <a:ext cx="332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56816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0" y="2286000"/>
            <a:ext cx="0" cy="2304288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2761488"/>
            <a:ext cx="1118585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3218688"/>
            <a:ext cx="1118585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3675888"/>
            <a:ext cx="1118585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2920" y="4133088"/>
            <a:ext cx="1118585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4590288"/>
            <a:ext cx="1118585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" y="2304288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96337" y="2286000"/>
            <a:ext cx="0" cy="2304288"/>
          </a:xfrm>
          <a:prstGeom prst="line">
            <a:avLst/>
          </a:prstGeom>
          <a:noFill/>
          <a:ln w="12700">
            <a:solidFill>
              <a:srgbClr val="00915E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067407" y="2459736"/>
            <a:ext cx="225380" cy="146304"/>
          </a:xfrm>
          <a:prstGeom prst="rect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47652" y="24323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days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59717" y="2916936"/>
            <a:ext cx="150254" cy="146304"/>
          </a:xfrm>
          <a:prstGeom prst="rect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146485" y="28895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days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44421" y="3447288"/>
            <a:ext cx="783465" cy="0"/>
          </a:xfrm>
          <a:prstGeom prst="line">
            <a:avLst/>
          </a:prstGeom>
          <a:noFill/>
          <a:ln w="15875">
            <a:solidFill>
              <a:srgbClr val="5C5C5C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4845590" y="3364992"/>
            <a:ext cx="164592" cy="164592"/>
          </a:xfrm>
          <a:prstGeom prst="diamond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037614" y="3346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late 2025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46957" y="3831336"/>
            <a:ext cx="171718" cy="146304"/>
          </a:xfrm>
          <a:prstGeom prst="rect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873539" y="3803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days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55661" y="4288536"/>
            <a:ext cx="300507" cy="146304"/>
          </a:xfrm>
          <a:prstGeom prst="rect">
            <a:avLst/>
          </a:prstGeom>
          <a:solidFill>
            <a:srgbClr val="9BC9B4"/>
          </a:solidFill>
          <a:ln w="6350">
            <a:solidFill>
              <a:srgbClr val="9BC9B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811032" y="4261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weeks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7784" y="4681728"/>
            <a:ext cx="118872" cy="100584"/>
          </a:xfrm>
          <a:prstGeom prst="rect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4681728"/>
            <a:ext cx="118872" cy="100584"/>
          </a:xfrm>
          <a:prstGeom prst="rect">
            <a:avLst/>
          </a:prstGeom>
          <a:solidFill>
            <a:srgbClr val="9BC9B4"/>
          </a:solidFill>
          <a:ln w="6350">
            <a:solidFill>
              <a:srgbClr val="9BC9B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78274" y="4736592"/>
            <a:ext cx="182880" cy="0"/>
          </a:xfrm>
          <a:prstGeom prst="line">
            <a:avLst/>
          </a:prstGeom>
          <a:noFill/>
          <a:ln w="15875">
            <a:solidFill>
              <a:srgbClr val="5C5C5C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7187184" y="4672584"/>
            <a:ext cx="118872" cy="118872"/>
          </a:xfrm>
          <a:prstGeom prst="diamond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34222" y="4654296"/>
            <a:ext cx="0" cy="164592"/>
          </a:xfrm>
          <a:prstGeom prst="line">
            <a:avLst/>
          </a:prstGeom>
          <a:noFill/>
          <a:ln w="12700">
            <a:solidFill>
              <a:srgbClr val="00915E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502920" y="488289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02920" y="49560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patterns, not incidents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502920" y="5212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administration-plane abuse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1636776" y="5212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and destructive intrusion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563624" y="5230368"/>
            <a:ext cx="0" cy="50292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770632" y="5212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misuse at software vendors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697480" y="5230368"/>
            <a:ext cx="0" cy="50292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904488" y="5212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Outsourced-service concentration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3831336" y="5230368"/>
            <a:ext cx="0" cy="50292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038344" y="5212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and hacktivist targeting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4965192" y="5230368"/>
            <a:ext cx="0" cy="50292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81928" y="4956048"/>
            <a:ext cx="0" cy="10972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446520" y="4956048"/>
            <a:ext cx="5242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compromised identity or management environment can stop manufacturing worldwide; vendor accounts without strong authentication expose many practices' patients at once.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6446520" y="5559552"/>
            <a:ext cx="5242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Healthcare supplier and processor cyber disclosures, and test whether counterparties depend on one manufacturer or software platform.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depends on public disclosure. Distributor and telehealth evidence is thin; a distributor incident was excluded because its scope was undetermined.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Impact: Healthcare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losses in the period come from corporate filings and fines. European providers disclosed none, and care effects appear as cancelled or reduced activity rather than money.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02152" y="1874520"/>
            <a:ext cx="0" cy="38404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874520"/>
            <a:ext cx="0" cy="38404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874520"/>
            <a:ext cx="288036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Stryker organic growth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107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cent; bars are quarterly growth, dark marks the full-year guidance range (8.0-9.5% at Q1, 8.3-9.3% at Q2)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542032"/>
          <a:ext cx="2880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495604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pattern: 2.4% growth in the incident quarter (cyber effect not separated) and 9.0% the next, with guidance narrowed to 8.3-9.3%.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39312" y="1874520"/>
            <a:ext cx="288036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Claims-clearing precedent, 2024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639312" y="21107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Historical: loans to US care providers in nine months, USD billion</a:t>
            </a:r>
            <a:endParaRPr lang="en-US" sz="10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3639312" y="2542032"/>
          <a:ext cx="2880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3639312" y="495604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Claims-clearing failure transmits straight into provider cash flow: one outage led to USD 8.9 billion of loans advanced to providers.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187452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public record shows, by impact type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031736" y="2240280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Care-service disruption: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surgery cancelled; screening cut 50%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031736" y="2546604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cost: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West USD 6.9m combined; Conduent USD 25m pre-period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031736" y="2852928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Stryker quarterly figures; Boston Scientific amount pending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031736" y="3159252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outcome: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EUR 500,000 fine; inspectorate finding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031736" y="3465576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and suppliers: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laboratory suspended; NHS orders cancelled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7031736" y="3771900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and remediation: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mass letters; cost not disclosed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031736" y="4078224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cost: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 average USD 1.02m; no entity figure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031736" y="4384548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Litigation: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actions reported; no settlement confirmed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7031736" y="4690872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recovery disclosed in filings reviewed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031736" y="4997196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funding: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EU and UK budgets undisclosed; US loan precedent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812280" y="2276856"/>
            <a:ext cx="128016" cy="12801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12280" y="2583180"/>
            <a:ext cx="128016" cy="12801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812280" y="2510028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812280" y="2889504"/>
            <a:ext cx="128016" cy="12801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812280" y="2816352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812280" y="3195828"/>
            <a:ext cx="128016" cy="12801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12280" y="3122676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812280" y="3502152"/>
            <a:ext cx="128016" cy="128016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812280" y="3429000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812280" y="3808476"/>
            <a:ext cx="128016" cy="128016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12280" y="3735324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812280" y="4114800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812280" y="4041648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812280" y="4421124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12280" y="4347972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812280" y="4727448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812280" y="4654296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812280" y="5033772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812280" y="4960620"/>
            <a:ext cx="4876495" cy="0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995160" y="5440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in the period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8458200" y="5440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Observed, not quantified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9966960" y="54406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Benchmark, historical or none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830568" y="5468112"/>
            <a:ext cx="109728" cy="109728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93608" y="5468112"/>
            <a:ext cx="109728" cy="109728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802368" y="546811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02920" y="576072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02920" y="583387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Healthcare counterparties for guidance changes, single-processor dependency and backlog funding; survey costs are benchmarks only.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differ in currency, period and definition and are not added. Absence of European cost data is a disclosure gap, not evidence of low loss.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Impact: Worst-Case Scenarios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stress pathways show how one cyber event could reach many providers. They are structured narratives built from 2024-2026 cases, not forecasts, patient-harm estimates or loss estimates.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745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Common digital dependency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346704"/>
            <a:ext cx="248716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and propagation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electronic health record, identity or claims platform compromised; every dependent provider loses scheduling, records or claims at once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264152"/>
            <a:ext cx="248716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transmission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cash-flow delay; vendor liability; notification and fines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46320"/>
            <a:ext cx="248716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signposts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disclosures; identity-campaign alerts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472184" y="2304288"/>
            <a:ext cx="548640" cy="256032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85800" y="2560320"/>
            <a:ext cx="1060704" cy="310896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87121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216152" y="2560320"/>
            <a:ext cx="530352" cy="310896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78992" y="287121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6504" y="2560320"/>
            <a:ext cx="0" cy="310896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09344" y="287121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46504" y="2560320"/>
            <a:ext cx="530352" cy="310896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39696" y="287121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46504" y="2560320"/>
            <a:ext cx="1060704" cy="310896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70048" y="287121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0815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fails for all users at once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2487168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91256" y="18745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Targeted operational disruption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191256" y="3346704"/>
            <a:ext cx="248716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and propagation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forces a hospital group or laboratory offline; paper operation and diversion to neighbouring providers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191256" y="4264152"/>
            <a:ext cx="248716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transmission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activity income; recovery spend; covenant pressure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191256" y="4846320"/>
            <a:ext cx="248716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signposts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ransomware claims; emergency diversion notices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60520" y="2560320"/>
            <a:ext cx="548640" cy="256032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8416" y="259689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6944" y="2596896"/>
            <a:ext cx="274320" cy="1828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3602736" y="2688336"/>
            <a:ext cx="557784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09160" y="2688336"/>
            <a:ext cx="557784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39896" y="2322576"/>
            <a:ext cx="2743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55464" y="2322576"/>
            <a:ext cx="2743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9896" y="2907792"/>
            <a:ext cx="2743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5464" y="2907792"/>
            <a:ext cx="2743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91256" y="30815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fails; neighbours absorb load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91256" y="3291840"/>
            <a:ext cx="2487168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90672" y="1920240"/>
            <a:ext cx="0" cy="347472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79592" y="18745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Supply-chain concentration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879592" y="3346704"/>
            <a:ext cx="248716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and propagation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Manufacturer, distributor or laboratory stops; stock (about two weeks in the UK Stryker case) and substitute capacity run out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879592" y="4264152"/>
            <a:ext cx="248716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transmission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earnings and guidance; deferred procedures; backlog funding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879592" y="4846320"/>
            <a:ext cx="248716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signposts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Material-incident filings; national supply notices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25312" y="2551176"/>
            <a:ext cx="457200" cy="256032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2679192"/>
            <a:ext cx="256032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675120" y="2462022"/>
            <a:ext cx="347472" cy="434340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2679192"/>
            <a:ext cx="256032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315200" y="2530602"/>
            <a:ext cx="347472" cy="297180"/>
          </a:xfrm>
          <a:prstGeom prst="rect">
            <a:avLst/>
          </a:prstGeom>
          <a:solidFill>
            <a:srgbClr val="9BC9B4"/>
          </a:solidFill>
          <a:ln w="12700">
            <a:solidFill>
              <a:srgbClr val="9BC9B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2679192"/>
            <a:ext cx="256032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955280" y="2599182"/>
            <a:ext cx="347472" cy="160020"/>
          </a:xfrm>
          <a:prstGeom prst="rect">
            <a:avLst/>
          </a:prstGeom>
          <a:solidFill>
            <a:srgbClr val="E8F4E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879592" y="30815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fails; buffers deplete in turn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79592" y="3291840"/>
            <a:ext cx="2487168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79008" y="1920240"/>
            <a:ext cx="0" cy="347472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5577840"/>
            <a:ext cx="78638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2920" y="563270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which Healthcare counterparties rely on shared platforms, on one dominant regional operator, or on single-source suppliers, and how long their buffers last.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476488" y="1874520"/>
            <a:ext cx="0" cy="42062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641080" y="1874520"/>
            <a:ext cx="3047695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outages against UK stock cover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8641080" y="230124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full operation; Boston Scientific to substantial recovery, approximate</a:t>
            </a:r>
            <a:endParaRPr lang="en-US" sz="1000" dirty="0"/>
          </a:p>
        </p:txBody>
      </p:sp>
      <p:graphicFrame>
        <p:nvGraphicFramePr>
          <p:cNvPr id="57" name="Chart 0" descr=""/>
          <p:cNvGraphicFramePr/>
          <p:nvPr/>
        </p:nvGraphicFramePr>
        <p:xfrm>
          <a:off x="8595360" y="2697480"/>
          <a:ext cx="309341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8" name="Shape 55"/>
          <p:cNvSpPr/>
          <p:nvPr/>
        </p:nvSpPr>
        <p:spPr>
          <a:xfrm>
            <a:off x="8641080" y="4352544"/>
            <a:ext cx="304769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641080" y="440740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stock cover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on day 7 of the Stryker outage at about two more weeks, so to about day 21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8641080" y="5029200"/>
            <a:ext cx="3047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outages ran two to three weeks, about as long as the UK stock cover for Stryker products: the recovery margin was days, not weeks. Single cases; no stock-out was reported.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probability is assigned. Durations are single cases with different end-points; offline modes, intact backups, consigned stock and multi-sourcing can each limit the effect.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Dutch Screening Laboratory Breach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July 2025 data breach at one outsourced laboratory became an in-period capacity problem: the Dutch national cervical screening programme halved primary invitations five months later.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47088"/>
            <a:ext cx="2145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377440"/>
            <a:ext cx="20177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hacked; programme operator informed more than a month later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85811" y="1847088"/>
            <a:ext cx="2145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49819" y="2377440"/>
            <a:ext cx="20177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suspended; 941,000 participants to be written 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2982" y="1847088"/>
            <a:ext cx="2145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August 2025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86990" y="2377440"/>
            <a:ext cx="20177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backup laboratories run at about 150% of capacity for six months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260153" y="1847088"/>
            <a:ext cx="2145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December 2025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24161" y="2377440"/>
            <a:ext cx="20177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invitations cut by 50%; follow-up tests continue in full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497324" y="1847088"/>
            <a:ext cx="2145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May 2026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561332" y="2377440"/>
            <a:ext cx="20177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Inspectorate finds the laboratory below the Dutch NEN 7510 health information-security norm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21506" y="2240280"/>
            <a:ext cx="89486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8354" y="2167128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85525" y="2167128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2696" y="2167128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9867" y="2167128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97038" y="2167128"/>
            <a:ext cx="146304" cy="146304"/>
          </a:xfrm>
          <a:prstGeom prst="ellipse">
            <a:avLst/>
          </a:prstGeom>
          <a:solidFill>
            <a:srgbClr val="00915E"/>
          </a:solidFill>
          <a:ln w="6350">
            <a:solidFill>
              <a:srgbClr val="0091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1752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108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capacity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3649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~150%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on the two backup laboratories, % of their regular capacity, for about six months from August 2025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224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invitations, % of planned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4407408"/>
          <a:ext cx="3383280" cy="9875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02920" y="542239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laboratories ran at about 150% from August; by December the backlog forced primary invitations to be halved, while follow-up tests continued in full.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069080" y="3108960"/>
            <a:ext cx="329184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affected and notified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33451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Thousands; green bars people identified as affected, grey bar the notification population</a:t>
            </a:r>
            <a:endParaRPr lang="en-US" sz="100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4023360" y="3703320"/>
          <a:ext cx="3383280" cy="16733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4069080" y="542239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405,000 were notified within weeks; the operator then wrote to all 941,000 participants whose data had been shared since 2017.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931920" y="3108960"/>
            <a:ext cx="0" cy="292608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98080" y="3108960"/>
            <a:ext cx="0" cy="29718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680960" y="3108960"/>
            <a:ext cx="4007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was stolen, not encrypted. The service effect came from suspending an untrusted supplier when only two substitute laboratories existed.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7680960" y="3877056"/>
            <a:ext cx="4007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Regulatory: inspectorate finding; data-protection investigation pending. Financial: no cost disclosed. Recovery depended on re-establishing trust in the supplier.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7680960" y="4645152"/>
            <a:ext cx="4007815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Read-across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buffer-driven mechanism appeared in the UK when a manufacturer outage left about two weeks of stock.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7680960" y="5245608"/>
            <a:ext cx="4007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assurance needs independent security evidence and a tested substitution plan with capacity figures, as the Dutch inspectorate now expects of providers.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shows no clinical harm, cost or attacker identity, and concerns one programme with three laboratories; larger supplier pools may absorb a similar loss.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Dependencies &amp; Regulatory Outlook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concentration sits in shared suppliers and platforms, while the EU and UK rules that address it are partly unapplied, deferred or still in Parliament.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74520"/>
            <a:ext cx="489204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concentration sits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107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dependency chains; the shaded box is the shared point of failure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8716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IT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706624"/>
            <a:ext cx="1044702" cy="40233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network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5366" y="2706624"/>
            <a:ext cx="104470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and shipping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7812" y="2706624"/>
            <a:ext cx="104470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stock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0258" y="2706624"/>
            <a:ext cx="104470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75054" y="290779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57500" y="290779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39946" y="290779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2920" y="321868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Outsourced laboratory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1044702" cy="40233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5366" y="3438144"/>
            <a:ext cx="104470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programme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7812" y="3438144"/>
            <a:ext cx="104470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laboratories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50258" y="3438144"/>
            <a:ext cx="104470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75054" y="363931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57500" y="363931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39946" y="363931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02920" y="395020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software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69664"/>
            <a:ext cx="1472184" cy="40233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12848" y="4169664"/>
            <a:ext cx="1472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~1,500 doctor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22776" y="4169664"/>
            <a:ext cx="1472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patient records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02536" y="437083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12464" y="437083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02920" y="468172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clearing (US precedent)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901184"/>
            <a:ext cx="1472184" cy="402336"/>
          </a:xfrm>
          <a:prstGeom prst="rect">
            <a:avLst/>
          </a:prstGeom>
          <a:solidFill>
            <a:srgbClr val="00915E"/>
          </a:solidFill>
          <a:ln w="12700">
            <a:solidFill>
              <a:srgbClr val="00915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Clearing house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12848" y="4901184"/>
            <a:ext cx="1472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22776" y="4901184"/>
            <a:ext cx="1472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cash flow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02536" y="510235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712464" y="5102352"/>
            <a:ext cx="182880" cy="0"/>
          </a:xfrm>
          <a:prstGeom prst="line">
            <a:avLst/>
          </a:prstGeom>
          <a:noFill/>
          <a:ln w="12700">
            <a:solidFill>
              <a:srgbClr val="5C5C5C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02920" y="546811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product security sits under medical-device law; manufacturers' own networks fall under NIS2, which is where the 2026 manufacturer outages occurred.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1874520"/>
            <a:ext cx="0" cy="42062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1500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roadmap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force, applied or deadline passed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milestone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897880" y="2350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or bill, pending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2350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referral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085784" y="55229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715000" y="284378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NIS2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646920" y="2843784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directive; applies; four states sent to court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715000" y="3227832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Directive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646920" y="3227832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directive; July 2026 deadline passed; seven referred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715000" y="3611880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Resilience Act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46920" y="3611880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from 11 September 2026; excludes regulated devices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715000" y="3995928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Health Data Space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646920" y="3995928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force; most obligations from March 2029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715000" y="4379976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Act, medical devices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646920" y="4379976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duties deferred to 2 August 2028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715000" y="476402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Cyber Security and Resilience Bill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646920" y="4764024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only: Lords Report stage, no Royal Assent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5715000" y="5148072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HIPAA Security Rule update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646920" y="5148072"/>
            <a:ext cx="2041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only (January 2025); no final rule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742432" y="2185416"/>
            <a:ext cx="109728" cy="109728"/>
          </a:xfrm>
          <a:prstGeom prst="ellipse">
            <a:avLst/>
          </a:prstGeom>
          <a:solidFill>
            <a:srgbClr val="00915E"/>
          </a:solidFill>
          <a:ln w="12700">
            <a:solidFill>
              <a:srgbClr val="0091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74152" y="2185416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33288" y="2368296"/>
            <a:ext cx="128016" cy="128016"/>
          </a:xfrm>
          <a:prstGeom prst="diamond">
            <a:avLst/>
          </a:prstGeom>
          <a:solidFill>
            <a:srgbClr val="5C5C5C"/>
          </a:solidFill>
          <a:ln w="6350">
            <a:solidFill>
              <a:srgbClr val="5C5C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74152" y="2377440"/>
            <a:ext cx="109728" cy="109728"/>
          </a:xfrm>
          <a:prstGeom prst="rect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13232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'24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269480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41293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'25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550090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692773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'26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829933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972617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109777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5246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'28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389620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53307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'29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670230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812913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'30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50073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092757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'31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229917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09760" y="2770632"/>
            <a:ext cx="0" cy="2734056"/>
          </a:xfrm>
          <a:prstGeom prst="line">
            <a:avLst/>
          </a:prstGeom>
          <a:noFill/>
          <a:ln w="6350">
            <a:solidFill>
              <a:srgbClr val="EDEDE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15000" y="2798064"/>
            <a:ext cx="597377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15000" y="3200400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69480" y="3008376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32385" y="2948940"/>
            <a:ext cx="118872" cy="118872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919208" y="2953512"/>
            <a:ext cx="109728" cy="109728"/>
          </a:xfrm>
          <a:prstGeom prst="rect">
            <a:avLst/>
          </a:prstGeom>
          <a:solidFill>
            <a:srgbClr val="00704A"/>
          </a:solidFill>
          <a:ln w="6350">
            <a:solidFill>
              <a:srgbClr val="0070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15000" y="3584448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69480" y="3392424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21536" y="3332988"/>
            <a:ext cx="118872" cy="118872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15000" y="3968496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269480" y="3776472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73787" y="3717036"/>
            <a:ext cx="118872" cy="118872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64471" y="3717036"/>
            <a:ext cx="118872" cy="118872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14083" y="3717036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715000" y="4352544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69480" y="4160520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555056" y="4101084"/>
            <a:ext cx="118872" cy="118872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14743" y="41010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675196" y="41010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34883" y="41010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15000" y="4736592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269480" y="4544568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29203" y="4485132"/>
            <a:ext cx="118872" cy="118872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94257" y="4485132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715000" y="5120640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269480" y="4928616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20840" y="4928616"/>
            <a:ext cx="28368" cy="0"/>
          </a:xfrm>
          <a:prstGeom prst="line">
            <a:avLst/>
          </a:prstGeom>
          <a:noFill/>
          <a:ln w="15875">
            <a:solidFill>
              <a:srgbClr val="5C5C5C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7947688" y="4855464"/>
            <a:ext cx="146304" cy="146304"/>
          </a:xfrm>
          <a:prstGeom prst="diamond">
            <a:avLst/>
          </a:prstGeom>
          <a:solidFill>
            <a:srgbClr val="5C5C5C"/>
          </a:solidFill>
          <a:ln w="6350">
            <a:solidFill>
              <a:srgbClr val="5C5C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15000" y="5504688"/>
            <a:ext cx="5973775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69480" y="5312664"/>
            <a:ext cx="224028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53923" y="5312664"/>
            <a:ext cx="495284" cy="0"/>
          </a:xfrm>
          <a:prstGeom prst="line">
            <a:avLst/>
          </a:prstGeom>
          <a:noFill/>
          <a:ln w="15875">
            <a:solidFill>
              <a:srgbClr val="5C5C5C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7480771" y="5239512"/>
            <a:ext cx="146304" cy="146304"/>
          </a:xfrm>
          <a:prstGeom prst="diamond">
            <a:avLst/>
          </a:prstGeom>
          <a:solidFill>
            <a:srgbClr val="5C5C5C"/>
          </a:solidFill>
          <a:ln w="6350">
            <a:solidFill>
              <a:srgbClr val="5C5C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049208" y="2770632"/>
            <a:ext cx="0" cy="2752344"/>
          </a:xfrm>
          <a:prstGeom prst="line">
            <a:avLst/>
          </a:prstGeom>
          <a:noFill/>
          <a:ln w="12700">
            <a:solidFill>
              <a:srgbClr val="00915E"/>
            </a:solidFill>
            <a:prstDash val="dash"/>
          </a:ln>
        </p:spPr>
      </p:sp>
      <p:sp>
        <p:nvSpPr>
          <p:cNvPr id="110" name="Text 108"/>
          <p:cNvSpPr txBox="1"/>
          <p:nvPr/>
        </p:nvSpPr>
        <p:spPr>
          <a:xfrm>
            <a:off x="5715000" y="5760720"/>
            <a:ext cx="5973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register that separates enacted, applicable, deferred and proposed rules; do not treat UK or US proposals as binding.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Applicability depends on national transposition, entity size and identification decisions; some instruments were read in part.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 &amp; Security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85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follow the observed pathways: control supplier administration planes, map single-source dependencies, assure outsourced clinical services, and treat multi-factor authentication (MFA) and tested restoration as baseline.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745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by time horizon and scenario addressed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212848"/>
            <a:ext cx="131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3 months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139440" y="2212848"/>
            <a:ext cx="131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6 months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450080" y="2212848"/>
            <a:ext cx="131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14600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Shared platform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10712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Single operator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06824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Supplier concentration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01952" y="3675888"/>
            <a:ext cx="1164336" cy="365760"/>
          </a:xfrm>
          <a:prstGeom prst="rect">
            <a:avLst/>
          </a:prstGeom>
          <a:solidFill>
            <a:srgbClr val="E8F4EF"/>
          </a:solidFill>
          <a:ln w="12700">
            <a:solidFill>
              <a:srgbClr val="00915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Provider access and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12592" y="4352544"/>
            <a:ext cx="1164336" cy="365760"/>
          </a:xfrm>
          <a:prstGeom prst="rect">
            <a:avLst/>
          </a:prstGeom>
          <a:solidFill>
            <a:srgbClr val="E8F4EF"/>
          </a:solidFill>
          <a:ln w="12700">
            <a:solidFill>
              <a:srgbClr val="00915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Supplier identity and admin planes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2592" y="4791456"/>
            <a:ext cx="1164336" cy="365760"/>
          </a:xfrm>
          <a:prstGeom prst="rect">
            <a:avLst/>
          </a:prstGeom>
          <a:solidFill>
            <a:srgbClr val="E8F4EF"/>
          </a:solidFill>
          <a:ln w="12700">
            <a:solidFill>
              <a:srgbClr val="00915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Single-source products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3232" y="2779776"/>
            <a:ext cx="1164336" cy="365760"/>
          </a:xfrm>
          <a:prstGeom prst="rect">
            <a:avLst/>
          </a:prstGeom>
          <a:solidFill>
            <a:srgbClr val="E8F4EF"/>
          </a:solidFill>
          <a:ln w="12700">
            <a:solidFill>
              <a:srgbClr val="00915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Claims concentration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3232" y="4572000"/>
            <a:ext cx="1164336" cy="365760"/>
          </a:xfrm>
          <a:prstGeom prst="rect">
            <a:avLst/>
          </a:prstGeom>
          <a:solidFill>
            <a:srgbClr val="E8F4EF"/>
          </a:solidFill>
          <a:ln w="12700">
            <a:solidFill>
              <a:srgbClr val="00915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Outsourced laboratories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514600"/>
            <a:ext cx="5257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410712"/>
            <a:ext cx="525780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306824"/>
            <a:ext cx="5257800" cy="0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202936"/>
            <a:ext cx="5257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2514600"/>
            <a:ext cx="0" cy="2688336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2514600"/>
            <a:ext cx="0" cy="2688336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50080" y="2514600"/>
            <a:ext cx="0" cy="2688336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514600"/>
            <a:ext cx="0" cy="2688336"/>
          </a:xfrm>
          <a:prstGeom prst="line">
            <a:avLst/>
          </a:prstGeom>
          <a:noFill/>
          <a:ln w="635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53492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 of Defence (1LoD) owners should refresh Healthcare counterparty reviews after supplier disclosures and escalate only on source-supported changes in exposure.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874520"/>
            <a:ext cx="0" cy="42062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874520"/>
          <a:ext cx="5516575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2432304"/>
                <a:gridCol w="1399032"/>
                <a:gridCol w="13898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or challenge question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of completion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trigger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there evidence of phishing-resistant MFA and approval controls for mass device actions?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Attestation or post-incident disclosure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Identity-campaign alerts; material-incident filings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counterparties rely on one manufacturer, and how many days of stock do they hold?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Single-source map with buffer days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supply notices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 independent security assessment and a tested substitute with stated capacity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Certificate; exercised backup protocol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Inspectorate findings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 MFA on remote clinical access and real-time alerting as baseline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evidence; alert tests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Data-protection fines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provider clients would need bridging liquidity if one processor stopped?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 map; contingency terms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Processor disclosures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6172200" y="5102352"/>
            <a:ext cx="5516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action targets a mechanism seen in the period rather than a generic control list. Voluntary frameworks such as the NIST Cybersecurity Framework 2.0 and the IEC 81001-5-1 health-software security standard can support design but are not law.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02920" y="6163056"/>
            <a:ext cx="1118585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623620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are sector priorities, not findings about any bank's or counterparty's controls; completion evidence depends on what counterparties disclose.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dence Emerald">
  <a:themeElements>
    <a:clrScheme name="Evidence Emerald">
      <a:dk1>
        <a:srgbClr val="1A1A1A"/>
      </a:dk1>
      <a:lt1>
        <a:srgbClr val="FFFFFF"/>
      </a:lt1>
      <a:dk2>
        <a:srgbClr val="3A3A3A"/>
      </a:dk2>
      <a:lt2>
        <a:srgbClr val="F2F2F2"/>
      </a:lt2>
      <a:accent1>
        <a:srgbClr val="00915E"/>
      </a:accent1>
      <a:accent2>
        <a:srgbClr val="5C5C5C"/>
      </a:accent2>
      <a:accent3>
        <a:srgbClr val="9BC9B4"/>
      </a:accent3>
      <a:accent4>
        <a:srgbClr val="BFBFBF"/>
      </a:accent4>
      <a:accent5>
        <a:srgbClr val="00704A"/>
      </a:accent5>
      <a:accent6>
        <a:srgbClr val="E8F4EF"/>
      </a:accent6>
      <a:hlink>
        <a:srgbClr val="00704A"/>
      </a:hlink>
      <a:folHlink>
        <a:srgbClr val="5C5C5C"/>
      </a:folHlink>
    </a:clrScheme>
    <a:fontScheme name="Evidence Emera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- Cyber Sectorial Analysis</dc:title>
  <dc:subject>PptxGenJS Presentation</dc:subject>
  <dc:creator>Cyber Sectorial Analysis</dc:creator>
  <cp:lastModifiedBy>Cyber Sectorial Analysis</cp:lastModifiedBy>
  <cp:revision>1</cp:revision>
  <dcterms:created xsi:type="dcterms:W3CDTF">2026-10-25T12:19:48Z</dcterms:created>
  <dcterms:modified xsi:type="dcterms:W3CDTF">2026-10-25T12:19:48Z</dcterms:modified>
</cp:coreProperties>
</file>