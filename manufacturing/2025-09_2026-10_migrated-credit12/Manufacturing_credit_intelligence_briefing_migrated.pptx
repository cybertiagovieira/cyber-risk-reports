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Cyber-related exceptional costs</c:v>
                </c:pt>
              </c:strCache>
            </c:strRef>
          </c:tx>
          <c:spPr>
            <a:solidFill>
              <a:srgbClr val="0091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Q2 FY26 (Jul-Sep 2025)</c:v>
                  </c:pt>
                  <c:pt idx="1">
                    <c:v>Q3 FY26 (Oct-Dec 2025)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196</c:v>
                </c:pt>
                <c:pt idx="1">
                  <c:v>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Free cash outflow (cyber and non-cyber causes)</c:v>
                </c:pt>
              </c:strCache>
            </c:strRef>
          </c:tx>
          <c:spPr>
            <a:solidFill>
              <a:srgbClr val="A6D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Q2 FY26 (Jul-Sep 2025)</c:v>
                  </c:pt>
                  <c:pt idx="1">
                    <c:v>Q3 FY26 (Oct-Dec 2025)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791</c:v>
                </c:pt>
                <c:pt idx="1">
                  <c:v>1500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A1A1A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71800"/>
          </a:xfrm>
          <a:prstGeom prst="rect">
            <a:avLst/>
          </a:prstGeom>
          <a:solidFill>
            <a:srgbClr val="00915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Intelligence Cover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Cyber Resilience &amp; Credit Intelligence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Migrated edition - evidence as of 16 October 2026; no research update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5394960" cy="0"/>
          </a:xfrm>
          <a:prstGeom prst="line">
            <a:avLst/>
          </a:prstGeom>
          <a:noFill/>
          <a:ln w="19050">
            <a:solidFill>
              <a:srgbClr val="00915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52044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period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9476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period: 1 September 2025 - 16 October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3429000"/>
            <a:ext cx="5394960" cy="0"/>
          </a:xfrm>
          <a:prstGeom prst="line">
            <a:avLst/>
          </a:prstGeom>
          <a:noFill/>
          <a:ln w="19050">
            <a:solidFill>
              <a:srgbClr val="00915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352044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Geographical scope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379476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Geography: global, primary focus EU, EEA and UK; North American and East Asian evidence comparative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5394960" cy="0"/>
          </a:xfrm>
          <a:prstGeom prst="line">
            <a:avLst/>
          </a:prstGeom>
          <a:noFill/>
          <a:ln w="19050">
            <a:solidFill>
              <a:srgbClr val="00915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61772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8920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Classification: not specified in source edition (external public data only)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4526280"/>
            <a:ext cx="5394960" cy="0"/>
          </a:xfrm>
          <a:prstGeom prst="line">
            <a:avLst/>
          </a:prstGeom>
          <a:noFill/>
          <a:ln w="19050">
            <a:solidFill>
              <a:srgbClr val="00915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63640" y="461772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Publication version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48920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1.0-M (migrated from the 16 October 2026 baseline) - Status: NEEDS_REVIEW, not a v4 edition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806440"/>
            <a:ext cx="1110996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925312"/>
            <a:ext cx="11109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Audience: Senior Credit Officers; inherent sector exposure, not a borrower assessment.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Sector Risk Snapshot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274320"/>
            <a:ext cx="3870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Executive intelligence  |  Migrated 1.0-M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903720" y="246888"/>
            <a:ext cx="1143000" cy="274320"/>
          </a:xfrm>
          <a:prstGeom prst="rect">
            <a:avLst/>
          </a:prstGeom>
          <a:solidFill>
            <a:srgbClr val="C8E6D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903720" y="24688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Provisional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03504"/>
            <a:ext cx="112772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Cyber/ICT and operational-resilience exposure is provisionally High, driven by IT-dependent production and supplier cascades; fraud and governance are not assessable.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457200" y="5943600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600760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  </a:t>
            </a:r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Provisional: no approved rubric and no 24-sector calibration; ratings are migrated analytical judgements with confidence capped at Medium, not borrower assessments.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00800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S-001, S-004, S-006, S-009, S-041, S-045, S-049, S-081 (Tier 1); S-010, S-039, S-040 (Tier 2) - Period: Sep 2025 - Oct 2026; 2025 benchmarks - Cut-off 16 Oct 2026 - v1.0-M Migrated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48132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14813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(scale printed; selected level filled)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148132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and confidence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481328"/>
            <a:ext cx="3547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Justification from source edition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1737360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189280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926080" y="1874520"/>
            <a:ext cx="3072384" cy="402336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26080" y="1874520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assessable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1837944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covered in source edition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Confidence: -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183880" y="1819656"/>
            <a:ext cx="3547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fraud research (Q10); the source edition covers cyber incidents and their outcomes only.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414016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256946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/ ICT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926080" y="2551176"/>
            <a:ext cx="987552" cy="402336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926080" y="2551176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968496" y="2551176"/>
            <a:ext cx="987552" cy="402336"/>
          </a:xfrm>
          <a:prstGeom prst="rect">
            <a:avLst/>
          </a:prstGeom>
          <a:solidFill>
            <a:srgbClr val="00915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968496" y="2551176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10912" y="2551176"/>
            <a:ext cx="987552" cy="402336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010912" y="2551176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High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263640" y="25146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Confidence: Medium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183880" y="2496312"/>
            <a:ext cx="3547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 held 25.2% of EU ransomware claims in 2025 and about 65% of industrial ransomware in Q2 2026; four of five named incidents stopped production through IT.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090672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7200" y="3246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Resilience / TPRM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926080" y="3227832"/>
            <a:ext cx="987552" cy="402336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2926080" y="3227832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968496" y="3227832"/>
            <a:ext cx="987552" cy="402336"/>
          </a:xfrm>
          <a:prstGeom prst="rect">
            <a:avLst/>
          </a:prstGeom>
          <a:solidFill>
            <a:srgbClr val="00915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968496" y="3227832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010912" y="3227832"/>
            <a:ext cx="987552" cy="402336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010912" y="3227832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High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263640" y="3191256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Confidence: Medium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8183880" y="3172968"/>
            <a:ext cx="3547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OEM stop was modelled to affect over 5,000 UK organisations; supplier prepayment and a GBP 1.5 billion state-guaranteed loan followed.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3767328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57200" y="392277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/ Operating Model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926080" y="3904488"/>
            <a:ext cx="3072384" cy="402336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926080" y="3904488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assessable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6263640" y="386791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covered in source edition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Confidence: -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183880" y="3849624"/>
            <a:ext cx="3547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Fragments only (NIS2 management-body accountability; MOD supplier flow-down); no governance research (Q13).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" y="4471416"/>
            <a:ext cx="3606698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57200" y="4544568"/>
            <a:ext cx="36066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457200" y="4800600"/>
            <a:ext cx="36066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messages: (1) production stops when enterprise IT stops, not mainly through plant control systems; (2) one OEM stop cascades to thousands of suppliers; (3) losses arrive through lost output and cash, not response cost.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292498" y="4471416"/>
            <a:ext cx="3606698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292498" y="4544568"/>
            <a:ext cx="36066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Significance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4292498" y="4800600"/>
            <a:ext cx="36066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direction: rising in claim-based data (European manufacturing ransomware victims up 85.4% in January-July 2026 year on year); no prior edition exists for a trend comparison.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8054645" y="4471416"/>
            <a:ext cx="3753002" cy="1353312"/>
          </a:xfrm>
          <a:prstGeom prst="rect">
            <a:avLst/>
          </a:prstGeom>
          <a:solidFill>
            <a:srgbClr val="E8F5EF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8127797" y="4544568"/>
            <a:ext cx="36066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Lens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8127797" y="4800600"/>
            <a:ext cx="36066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consequential credit implication: a multi-week stop at a large manufacturer drains cash (JLR free cash outflow of GBP 1.5 billion in one quarter, mixed causes) and transfers liquidity stress to suppliers.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Anatomy: Key Operations &amp; Dependencies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274320"/>
            <a:ext cx="3870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Executive intelligence  |  Migrated 1.0-M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772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 output depends on the enterprise systems that release production and on just-in-time supplier tiers; one OEM or one shared tool can stop many firms at once.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457200" y="5943600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600760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  </a:t>
            </a:r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shares of ERP, MES and OT vendors are not public, so no platform is described as dominant. Not covered in source edition: operating-model and governance complexity (Q13).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00800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S-001, S-003, S-009, S-016, S-021, S-025, S-027, S-034, S-035, S-043, S-089 (Tier 1); S-010, S-039 (Tier 2); S-024 (Tier 3) - Period: Sep 2025 - Oct 2026; footprint 2023 - Cut-off 16 Oct 2026 - v1.0-M Migrated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481328"/>
            <a:ext cx="2377440" cy="0"/>
          </a:xfrm>
          <a:prstGeom prst="line">
            <a:avLst/>
          </a:prstGeom>
          <a:noFill/>
          <a:ln w="19050">
            <a:solidFill>
              <a:srgbClr val="00915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5361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30.2 million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manufacturing employment, 2023 (18.5% of business economy)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414016"/>
            <a:ext cx="2377440" cy="0"/>
          </a:xfrm>
          <a:prstGeom prst="line">
            <a:avLst/>
          </a:prstGeom>
          <a:noFill/>
          <a:ln w="19050">
            <a:solidFill>
              <a:srgbClr val="00915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4688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23.1%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8529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EU business-economy value added, 2023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346704"/>
            <a:ext cx="2377440" cy="0"/>
          </a:xfrm>
          <a:prstGeom prst="line">
            <a:avLst/>
          </a:prstGeom>
          <a:noFill/>
          <a:ln w="19050">
            <a:solidFill>
              <a:srgbClr val="0091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4015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120,000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7856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supply-chain jobs supported by JLR alone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108960" y="1463040"/>
            <a:ext cx="1520281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154680" y="1463040"/>
            <a:ext cx="142884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providers and admin tools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56673" y="1719072"/>
            <a:ext cx="201168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885273" y="1463040"/>
            <a:ext cx="1520281" cy="512064"/>
          </a:xfrm>
          <a:prstGeom prst="rect">
            <a:avLst/>
          </a:prstGeom>
          <a:solidFill>
            <a:srgbClr val="00915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930993" y="1463040"/>
            <a:ext cx="142884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IT (ERP, MES, identity)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32987" y="1719072"/>
            <a:ext cx="201168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661587" y="1463040"/>
            <a:ext cx="1520281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07307" y="1463040"/>
            <a:ext cx="142884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release at plants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09300" y="1719072"/>
            <a:ext cx="201168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437900" y="1463040"/>
            <a:ext cx="1520281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83620" y="1463040"/>
            <a:ext cx="142884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 output and delivery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985614" y="1719072"/>
            <a:ext cx="201168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214214" y="1463040"/>
            <a:ext cx="1520281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259934" y="1463040"/>
            <a:ext cx="142884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Tier-1 to tier-3 suppliers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08960" y="2121408"/>
          <a:ext cx="8625535" cy="914400"/>
        </p:xfrm>
        <a:graphic>
          <a:graphicData uri="http://schemas.openxmlformats.org/drawingml/2006/table">
            <a:tbl>
              <a:tblPr/>
              <a:tblGrid>
                <a:gridCol w="1960349"/>
                <a:gridCol w="2058366"/>
                <a:gridCol w="2254401"/>
                <a:gridCol w="235241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Dependency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 in source edition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point or bottleneck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Fallback in source edition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 IT that releases production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JLR, Asahi, Boston Scientific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Plants stop when enterprise systems stop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Offline production release (scenario limiting condition)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Endpoint and identity administration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Stryker (mechanism media-reported); CISA alert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administrative tool reaches every device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Approval controls on mass wipe actions (action A2)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 vendors' installed base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French controller compromise; US PLC advisory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product family exposed across many sites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 internet exposure; supported firmware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Just-in-time supplier tiers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JLR and the CMC model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customer stop reaches thousands of suppliers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Buffered inventory, multi-sourcing, customer prepayment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Integrators and managed IT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Egide; 117 ICS-ecosystem incidents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provider's access reaches several plants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Restricted, logged provider access (action A5)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457200" y="4535424"/>
            <a:ext cx="3606698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57200" y="4608576"/>
            <a:ext cx="36066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4864608"/>
            <a:ext cx="360669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Footprint: about 2.2 million EU manufacturing enterprises in 2023, with machinery, food and motor vehicles the largest divisions by value added; JLR employs 34,000 people in the UK.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4292498" y="4535424"/>
            <a:ext cx="3606698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292498" y="4608576"/>
            <a:ext cx="36066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Significance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4292498" y="4864608"/>
            <a:ext cx="360669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control systems can be intact while production stops: JLR, Asahi, Stryker and Boston Scientific halted or slowed plants after IT shutdowns or outages.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8054645" y="4535424"/>
            <a:ext cx="3753002" cy="1316736"/>
          </a:xfrm>
          <a:prstGeom prst="rect">
            <a:avLst/>
          </a:prstGeom>
          <a:solidFill>
            <a:srgbClr val="E8F5EF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8127797" y="4608576"/>
            <a:ext cx="36066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Lens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8127797" y="4864608"/>
            <a:ext cx="360669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whether a borrower can release production and ship without ERP, MES and identity services, and which single customer or supplier accounts for most of its revenue.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 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Threat Landscape &amp; Attack Scenarios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274320"/>
            <a:ext cx="3870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Threat and exposure intelligence  |  Migrated 1.0-M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772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Ransomware against enterprise IT and misuse of administrative tools carry the highest disclosed production impact; exposed OT products and providers spread it across customers.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457200" y="5943600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600760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  </a:t>
            </a:r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and impact levels are migrated judgements, not measured outcomes; claim counts measure visibility, not attack rates. Not covered in source edition: developments after the 16 October 2026 cut-off.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00800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S-001, S-016, S-021, S-025, S-027, S-030, S-034, S-035, S-041, S-089 (Tier 1); S-039, S-040 (Tier 2); S-023 (Tier 3) - Period: Sep 2025 - Oct 2026; benchmarks 2023 - Q2 2026 - Cut-off 16 Oct 2026 - v1.0-M Migrated</a:t>
            </a:r>
            <a:endParaRPr lang="en-US" sz="8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7818120" cy="914400"/>
        </p:xfrm>
        <a:graphic>
          <a:graphicData uri="http://schemas.openxmlformats.org/drawingml/2006/table">
            <a:tbl>
              <a:tblPr/>
              <a:tblGrid>
                <a:gridCol w="505878"/>
                <a:gridCol w="2759336"/>
                <a:gridCol w="3265215"/>
                <a:gridCol w="128769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Pathway (pattern, not an attack) and mechanism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Observed evidence in source edition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 level (migrated judgement)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 Ransomware and data extortion against enterprise IT (targeted disruption)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JLR and Asahi, Sep 2025; Boston Scientific, Aug 2026; 25.2% of EU ransomware claims in 2025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 Destructive misuse of administrative platforms (common dependency)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Stryker, Mar 2026 (mechanism media-reported); CISA endpoint-management alert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P3 Internet-exposed OT and fielded products (supply-chain concentration)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Numerous refrigeration-controller compromises, Oct 2026; US PLC advisory, Apr 2026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P4 Supplier and service-provider compromise (supply-chain concentration)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Egide via an IT provider, Oct 2026; 117 ICS-ecosystem incidents in Q2 2026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D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P5 Data theft, intellectual-property and export-control exposure (other)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Asahi up to about 1.9 million records; West Pharmaceutical exfiltration, May 2026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D8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5596128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tint: emerald = High, light emerald = Medium; the level is always printed.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549640" y="1444752"/>
            <a:ext cx="3184855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549640" y="151790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549640" y="1773936"/>
            <a:ext cx="3184855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12 months: five named incidents; industrial ransomware rose 12% from Q1 to Q2 2026, with manufacturing about 65%. Last 30 days before cut-off: Egide site interruption (6-9 October 2026) and refrigeration-controller compromises (12-13 October 2026).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549640" y="2926080"/>
            <a:ext cx="3184855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549640" y="29992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Significance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549640" y="3255264"/>
            <a:ext cx="3184855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Dragos found no Q2 2026 ransomware case reaching control-system manipulation; disruption came from losing the enterprise and virtualisation layers that OT depends on.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458200" y="4407408"/>
            <a:ext cx="3367735" cy="1389888"/>
          </a:xfrm>
          <a:prstGeom prst="rect">
            <a:avLst/>
          </a:prstGeom>
          <a:solidFill>
            <a:srgbClr val="E8F5E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549640" y="448056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Lens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549640" y="4736592"/>
            <a:ext cx="3184855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borrower discussions toward IT-OT production dependency, control of administrative tools and the exposure of products already sold, not ransomware claim counts.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 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Geopolitical Cyber Threat Outlook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274320"/>
            <a:ext cx="3870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Threat and exposure intelligence  |  Migrated 1.0-M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772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State-linked activity is a rising threat to industrial controllers and enterprise estates, but no official source in the period attributed a manufacturing disruption to a state actor.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457200" y="5943600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600760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  </a:t>
            </a:r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covered in source edition: dedicated geopolitical analysis (Q07), exposed-region mapping and espionage against manufacturers; evidence is US-centred and official attribution is absent.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00800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S-025, S-035, S-041, S-073, S-074, S-080, S-084, S-089, S-091, S-096 (Tier 1); S-015, S-023, S-024, S-090 (Tier 3) - Period: 2025 - Oct 2026 - Cut-off 16 Oct 2026 - v1.0-M Migrated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630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953512" y="146304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Source-edition evidence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364224" y="146304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 exposure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9226296" y="146304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 status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1755648"/>
            <a:ext cx="2331720" cy="566928"/>
          </a:xfrm>
          <a:prstGeom prst="rect">
            <a:avLst/>
          </a:prstGeom>
          <a:solidFill>
            <a:srgbClr val="00915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21208" y="1755648"/>
            <a:ext cx="2203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State-linked PLC targeting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98064" y="2039112"/>
            <a:ext cx="146304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953512" y="1755648"/>
            <a:ext cx="3246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017520" y="1755648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joint advisory on Iranian-affiliated actors exploiting internet-facing PLCs, Apr 2026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08776" y="2039112"/>
            <a:ext cx="146304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364224" y="1755648"/>
            <a:ext cx="26974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28232" y="1755648"/>
            <a:ext cx="2569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Makers and industrial users of the same controllers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070848" y="2039112"/>
            <a:ext cx="146304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226296" y="1755648"/>
            <a:ext cx="2514600" cy="566928"/>
          </a:xfrm>
          <a:prstGeom prst="rect">
            <a:avLst/>
          </a:prstGeom>
          <a:solidFill>
            <a:srgbClr val="E8F5E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90304" y="1755648"/>
            <a:ext cx="2386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advisory; manufacturing not a named sector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432304"/>
            <a:ext cx="2331720" cy="566928"/>
          </a:xfrm>
          <a:prstGeom prst="rect">
            <a:avLst/>
          </a:prstGeom>
          <a:solidFill>
            <a:srgbClr val="00915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21208" y="2432304"/>
            <a:ext cx="2203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Destructive activity claimed by a state-linked persona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98064" y="2715768"/>
            <a:ext cx="146304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953512" y="2432304"/>
            <a:ext cx="3246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017520" y="2432304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Stryker device wipe, Mar 2026 (media reports)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08776" y="2715768"/>
            <a:ext cx="146304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364224" y="2432304"/>
            <a:ext cx="26974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28232" y="2432304"/>
            <a:ext cx="2569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Multi-site manufacturers through administrative tools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070848" y="2715768"/>
            <a:ext cx="146304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226296" y="2432304"/>
            <a:ext cx="2514600" cy="566928"/>
          </a:xfrm>
          <a:prstGeom prst="rect">
            <a:avLst/>
          </a:prstGeom>
          <a:solidFill>
            <a:srgbClr val="E8F5E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290304" y="2432304"/>
            <a:ext cx="2386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unconfirmed; no US government attribution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3108960"/>
            <a:ext cx="2331720" cy="566928"/>
          </a:xfrm>
          <a:prstGeom prst="rect">
            <a:avLst/>
          </a:prstGeom>
          <a:solidFill>
            <a:srgbClr val="00915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21208" y="3108960"/>
            <a:ext cx="2203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Nation-state share of national incidents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98064" y="3392424"/>
            <a:ext cx="146304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2953512" y="3108960"/>
            <a:ext cx="3246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017520" y="3108960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NCSC: most nationally significant UK incidents originate directly or indirectly from nation states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08776" y="3392424"/>
            <a:ext cx="146304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364224" y="3108960"/>
            <a:ext cx="26974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28232" y="3108960"/>
            <a:ext cx="2569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economy-wide, no manufacturing split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070848" y="3392424"/>
            <a:ext cx="146304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226296" y="3108960"/>
            <a:ext cx="2514600" cy="566928"/>
          </a:xfrm>
          <a:prstGeom prst="rect">
            <a:avLst/>
          </a:prstGeom>
          <a:solidFill>
            <a:srgbClr val="E8F5E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9290304" y="3108960"/>
            <a:ext cx="2386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statement, not sector attribution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7200" y="3785616"/>
            <a:ext cx="2331720" cy="566928"/>
          </a:xfrm>
          <a:prstGeom prst="rect">
            <a:avLst/>
          </a:prstGeom>
          <a:solidFill>
            <a:srgbClr val="00915E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521208" y="3785616"/>
            <a:ext cx="2203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security and ownership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798064" y="4069080"/>
            <a:ext cx="146304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2953512" y="3785616"/>
            <a:ext cx="3246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017520" y="3785616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Revised EU investment-screening regulation published 26 Jun 2026; UK NSI Act covers 17 areas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208776" y="4069080"/>
            <a:ext cx="146304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6364224" y="3785616"/>
            <a:ext cx="26974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428232" y="3785616"/>
            <a:ext cx="2569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Dual-use, advanced-technology and defence manufacturers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070848" y="4069080"/>
            <a:ext cx="146304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9226296" y="3785616"/>
            <a:ext cx="2514600" cy="566928"/>
          </a:xfrm>
          <a:prstGeom prst="rect">
            <a:avLst/>
          </a:prstGeom>
          <a:solidFill>
            <a:srgbClr val="E8F5EF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9290304" y="3785616"/>
            <a:ext cx="2386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context, not attribution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57200" y="4517136"/>
            <a:ext cx="3606698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57200" y="4590288"/>
            <a:ext cx="36066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457200" y="4846320"/>
            <a:ext cx="360669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Unconfirmed claims: a criminal group's claim for JLR was not confirmed by the company or the NCA; ENISA recorded more unconfirmed hacktivist intrusion claims against manufacturing OT in 2025.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4292498" y="4517136"/>
            <a:ext cx="3606698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292498" y="4590288"/>
            <a:ext cx="36066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Significance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4292498" y="4846320"/>
            <a:ext cx="360669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Defence, medical-device and OT-vendor manufacturers face added intent: US defence certification gates have applied since 10 November 2025 and controller fleets are reachable online.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8054645" y="4517136"/>
            <a:ext cx="3753002" cy="1335024"/>
          </a:xfrm>
          <a:prstGeom prst="rect">
            <a:avLst/>
          </a:prstGeom>
          <a:solidFill>
            <a:srgbClr val="E8F5EF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8127797" y="4590288"/>
            <a:ext cx="36066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Lens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8127797" y="4846320"/>
            <a:ext cx="360669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state-linked activity as a monitoring trigger rather than a rating driver; ask defence and OT-vendor borrowers about certification status and installed-base exposure.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 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Cyber Incidents &amp; Lessons Learned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274320"/>
            <a:ext cx="3870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Threat and exposure intelligence  |  Migrated 1.0-M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772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named incidents meet the evidence standard; four stopped production through IT, and the JLR case shows the path from shutdown to supplier liquidity and state support.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457200" y="5943600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600760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  </a:t>
            </a:r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covered in source edition: the second and third detailed case studies (only JLR is reconstructed) and developments after 16 October 2026; JLR's access route, OT state and full-year cyber cost were not disclosed.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00800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S-001, S-003, S-004, S-006, S-009, S-016, S-019, S-021, S-022, S-026, S-027, S-030, S-031, S-034, S-035, S-037 (Tier 1); S-023, S-036 (Tier 3) - Period: Sep 2025 - Oct 2026 - Cut-off 16 Oct 2026 - v1.0-M Migrated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4447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and documented weakness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14447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Disruption and financial consequence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14447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188720" y="1737360"/>
            <a:ext cx="0" cy="4069080"/>
          </a:xfrm>
          <a:prstGeom prst="line">
            <a:avLst/>
          </a:prstGeom>
          <a:noFill/>
          <a:ln w="19050">
            <a:solidFill>
              <a:srgbClr val="00915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171907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124712" y="1755648"/>
            <a:ext cx="128016" cy="128016"/>
          </a:xfrm>
          <a:prstGeom prst="ellipse">
            <a:avLst/>
          </a:prstGeom>
          <a:solidFill>
            <a:srgbClr val="00915E"/>
          </a:solidFill>
          <a:ln w="15875">
            <a:solidFill>
              <a:srgbClr val="00915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417320" y="170078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Jaguar Land Rover - automotive, UK and Slovakia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1947672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systems shut down proactively; access route not disclosed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194767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five weeks of halted production; GBP 260 million cyber costs over two quarters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194767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liquidity needs a bridge (case study)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54203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124712" y="2578608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915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417320" y="252374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Asahi Group - beverages and food, Japan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2770632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Data-centre network entered via network equipment at a group site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3611880" y="277063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Shipments halted; about JPY 40 billion 2025 impact; results delayed five months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035040" y="277063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tail outlasts the outage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36499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2026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24712" y="3401568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915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417320" y="334670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Stryker - medical devices, global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3593592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IT disruption; device wipe media-reported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3611880" y="359359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Q1 effect; manufacturing and ordering restored in about four weeks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035040" y="359359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administrative plane reaches every site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18795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2026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124712" y="4224528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915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417320" y="416966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 Scientific - medical devices, global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1417320" y="4416552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Unauthorised activity in IT systems; network outage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3611880" y="441655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Manufacturing, ordering and shipping disrupted; guidance unlikely to be met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6035040" y="441655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IT outage reaches guidance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501091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2026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124712" y="5047488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915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417320" y="499262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Refrigeration controller makers - France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1417320" y="5239512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Internet-reachable, partly end-of-life controllers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3611880" y="523951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Numerous compromises; hundreds of stores affected; cost not disclosed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6035040" y="523951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already sold become exposure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503920" y="1444752"/>
            <a:ext cx="3230575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503920" y="1517904"/>
            <a:ext cx="323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8503920" y="1773936"/>
            <a:ext cx="3230575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Selection: in-period event or outcome, Tier 1 support, manufacturing subsector and a distinct lesson. Considered but not selected: West Pharmaceutical, Egide, Hasbro and RTX.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503920" y="2926080"/>
            <a:ext cx="3230575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503920" y="2999232"/>
            <a:ext cx="323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Significance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8503920" y="3255264"/>
            <a:ext cx="3230575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Disclosure is asymmetric: two of five cases come from US securities filings and one from a Japanese company; only JLR and the controller case are EU or UK.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8412480" y="4407408"/>
            <a:ext cx="3413455" cy="1389888"/>
          </a:xfrm>
          <a:prstGeom prst="rect">
            <a:avLst/>
          </a:prstGeom>
          <a:solidFill>
            <a:srgbClr val="E8F5EF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8503920" y="4480560"/>
            <a:ext cx="323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Lens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8503920" y="4736592"/>
            <a:ext cx="3230575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a multi-week stop at a large OEM as a foreseeable credit event for its supplier base; ask how a borrower would bridge a key customer's stop.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 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Weaknesses &amp; Resilience Priorities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274320"/>
            <a:ext cx="3870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Threat and exposure intelligence  |  Migrated 1.0-M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772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resilience priorities follow the observed attacks; production release without IT, control of administrative tools and supplier liquidity address the highest-impact pathways.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457200" y="5943600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600760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  </a:t>
            </a:r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Priorities are sector-informed; scenario links and confidence are migrated judgements; no control-effectiveness data exists for any firm.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00800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S-001, S-003, S-016, S-021, S-025, S-027, S-034, S-035, S-057, S-066 (Tier 1); S-010, S-039 (Tier 2); S-023 (Tier 3) - Period: Sep 2025 - Oct 2026 - Cut-off 16 Oct 2026 - v1.0-M Migrated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7295" cy="914400"/>
        </p:xfrm>
        <a:graphic>
          <a:graphicData uri="http://schemas.openxmlformats.org/drawingml/2006/table">
            <a:tbl>
              <a:tblPr/>
              <a:tblGrid>
                <a:gridCol w="3536970"/>
                <a:gridCol w="2409240"/>
                <a:gridCol w="1076469"/>
                <a:gridCol w="1076469"/>
                <a:gridCol w="1230250"/>
                <a:gridCol w="973948"/>
                <a:gridCol w="973948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Priority and weakness observed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Linked evidence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Common dependency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Targeted disruption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Supply-chain concentration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A1 Production depends on ERP, MES and identity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JLR, Asahi, Boston Scientific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0-6 months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A2 Administrative tools can wipe every device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Stryker (media-reported); CISA alert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Secondary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0-3 months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A3 Suppliers depend on one customer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JLR supplier scheme; CMC model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Secondary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0-6 months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A4 End-of-life controllers reachable online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CERT-FR alert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3-12 months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A5 Provider access into plants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Egide; ICS-ecosystem counts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Secondary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3-12 months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A6 New product reporting and liability duties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cybersecurity and liability rules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Secondary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0-6 months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A7 Customer-side disruption often uninsured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CMC insurance finding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Secondary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6-12 months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4206240"/>
            <a:ext cx="11277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columns: Primary = main mitigating link, Secondary = supporting link (migrated judgement); scenarios as on Slide 10.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200" y="4590288"/>
            <a:ext cx="3606698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4663440"/>
            <a:ext cx="36066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919472"/>
            <a:ext cx="36066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 that contain disruption in the source edition: offline production release, segmentation (Stryker restored in about four weeks), buffered inventory, multi-sourcing and supported firmware.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292498" y="4590288"/>
            <a:ext cx="3606698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292498" y="4663440"/>
            <a:ext cx="36066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Significance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292498" y="4919472"/>
            <a:ext cx="36066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Labelled cyber costs were small beside lost output and cash, so continuity capabilities carry the cash-flow weight.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054645" y="4590288"/>
            <a:ext cx="3753002" cy="1261872"/>
          </a:xfrm>
          <a:prstGeom prst="rect">
            <a:avLst/>
          </a:prstGeom>
          <a:solidFill>
            <a:srgbClr val="E8F5E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127797" y="4663440"/>
            <a:ext cx="36066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Lens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127797" y="4919472"/>
            <a:ext cx="36066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priorities as discussion topics with borrowers; they are not a control audit or a compliance finding.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 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&amp; Supervisory Resilience Expectations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274320"/>
            <a:ext cx="3870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Resilience and financial implications  |  Migrated 1.0-M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772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product law reaches in-scope connected-product makers and NIS2 covers named activities; UK NIS law does not reach manufacturing; US rules act through listing, defence and devices.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457200" y="5943600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600760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  </a:t>
            </a:r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covered in source edition: supervisory priorities and consequences of non-compliance beyond fine maxima; national NIS2 extensions not surveyed; US items comparative only.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00800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S-045, S-046, S-049, S-051, S-055, S-056, S-057, S-063, S-065, S-066, S-075, S-076, S-077, S-079, S-081, S-083, S-084, S-087, S-094, S-095, S-096 (Tier 1); S-050, S-059, S-067, S-086, S-088 (Tier 3) - Period: Legal milestones 2018 - 2027; status at 16 Oct 2026 - Cut-off 16 Oct 2026 - v1.0-M Migrated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444752"/>
            <a:ext cx="3606698" cy="329184"/>
          </a:xfrm>
          <a:prstGeom prst="rect">
            <a:avLst/>
          </a:prstGeom>
          <a:solidFill>
            <a:srgbClr val="00915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1444752"/>
            <a:ext cx="34238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European Union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865376"/>
            <a:ext cx="36066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NIS2 Directive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139696"/>
            <a:ext cx="1097280" cy="329184"/>
          </a:xfrm>
          <a:prstGeom prst="rect">
            <a:avLst/>
          </a:prstGeom>
          <a:solidFill>
            <a:srgbClr val="E8F5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4632" y="2139696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Binding via national law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2130552"/>
            <a:ext cx="2417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activities only: NACE C26-C30, medical devices, chemicals, food, pharmaceuticals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505456"/>
            <a:ext cx="360669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542032"/>
            <a:ext cx="36066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Resilience Act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816352"/>
            <a:ext cx="1097280" cy="329184"/>
          </a:xfrm>
          <a:prstGeom prst="rect">
            <a:avLst/>
          </a:prstGeom>
          <a:solidFill>
            <a:srgbClr val="E8F5E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4632" y="2816352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applicable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2807208"/>
            <a:ext cx="2417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since 11 September 2026; full application 11 December 2027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182112"/>
            <a:ext cx="360669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218688"/>
            <a:ext cx="36066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Machinery Regulation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493008"/>
            <a:ext cx="1097280" cy="329184"/>
          </a:xfrm>
          <a:prstGeom prst="rect">
            <a:avLst/>
          </a:prstGeom>
          <a:solidFill>
            <a:srgbClr val="E8F5E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4632" y="3493008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applicable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1645920" y="3483864"/>
            <a:ext cx="2417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20 January 2027; protection against corruption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858768"/>
            <a:ext cx="360669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3895344"/>
            <a:ext cx="36066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Liability Directive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4169664"/>
            <a:ext cx="1097280" cy="329184"/>
          </a:xfrm>
          <a:prstGeom prst="rect">
            <a:avLst/>
          </a:prstGeom>
          <a:solidFill>
            <a:srgbClr val="E8F5E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84632" y="4169664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Transposition due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1645920" y="4160520"/>
            <a:ext cx="2417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9 December 2026; software and missing security updates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292498" y="1444752"/>
            <a:ext cx="3606698" cy="329184"/>
          </a:xfrm>
          <a:prstGeom prst="rect">
            <a:avLst/>
          </a:prstGeom>
          <a:solidFill>
            <a:srgbClr val="00915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383938" y="1444752"/>
            <a:ext cx="34238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Kingdom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292498" y="1865376"/>
            <a:ext cx="36066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 Regulations 2018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292498" y="2139696"/>
            <a:ext cx="1097280" cy="329184"/>
          </a:xfrm>
          <a:prstGeom prst="rect">
            <a:avLst/>
          </a:prstGeom>
          <a:solidFill>
            <a:srgbClr val="E8F5E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319930" y="2139696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Binding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5481218" y="2130552"/>
            <a:ext cx="2417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 not an essential-service sector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292498" y="2505456"/>
            <a:ext cx="360669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292498" y="2542032"/>
            <a:ext cx="36066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Security and Resilience Bill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292498" y="2816352"/>
            <a:ext cx="1097280" cy="329184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319930" y="2816352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Bill, not law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5481218" y="2807208"/>
            <a:ext cx="2417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Lords report stage; would add MSPs and designated suppliers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292498" y="3182112"/>
            <a:ext cx="360669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292498" y="3218688"/>
            <a:ext cx="36066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Ransomware measures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292498" y="3493008"/>
            <a:ext cx="1097280" cy="329184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4319930" y="3493008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Proposals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5481218" y="3483864"/>
            <a:ext cx="2417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bill identified at the cut-off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292498" y="3858768"/>
            <a:ext cx="360669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292498" y="3895344"/>
            <a:ext cx="36066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COMAH and MOD Cyber Security Model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292498" y="4169664"/>
            <a:ext cx="1097280" cy="329184"/>
          </a:xfrm>
          <a:prstGeom prst="rect">
            <a:avLst/>
          </a:prstGeom>
          <a:solidFill>
            <a:srgbClr val="E8F5EF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4319930" y="4169664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Binding duties; contractual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5481218" y="4160520"/>
            <a:ext cx="2417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Major-hazard sites; Def Stan 05-138 flow-down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127797" y="1444752"/>
            <a:ext cx="3606698" cy="329184"/>
          </a:xfrm>
          <a:prstGeom prst="rect">
            <a:avLst/>
          </a:prstGeom>
          <a:solidFill>
            <a:srgbClr val="5E6B66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8219237" y="1444752"/>
            <a:ext cx="34238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States (comparative)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8127797" y="1865376"/>
            <a:ext cx="36066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 Item 1.05 and Item 106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127797" y="2139696"/>
            <a:ext cx="1097280" cy="329184"/>
          </a:xfrm>
          <a:prstGeom prst="rect">
            <a:avLst/>
          </a:prstGeom>
          <a:solidFill>
            <a:srgbClr val="E8F5EF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8155229" y="2139696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Binding disclosure</a:t>
            </a:r>
            <a:endParaRPr lang="en-US" sz="800" dirty="0"/>
          </a:p>
        </p:txBody>
      </p:sp>
      <p:sp>
        <p:nvSpPr>
          <p:cNvPr id="55" name="Text 53"/>
          <p:cNvSpPr txBox="1"/>
          <p:nvPr/>
        </p:nvSpPr>
        <p:spPr>
          <a:xfrm>
            <a:off x="9316517" y="2130552"/>
            <a:ext cx="2417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of most quantified incident evidence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127797" y="2505456"/>
            <a:ext cx="360669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127797" y="2542032"/>
            <a:ext cx="36066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CMMC via DFARS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8127797" y="2816352"/>
            <a:ext cx="1097280" cy="329184"/>
          </a:xfrm>
          <a:prstGeom prst="rect">
            <a:avLst/>
          </a:prstGeom>
          <a:solidFill>
            <a:srgbClr val="E8F5EF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8155229" y="2816352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requirement</a:t>
            </a:r>
            <a:endParaRPr lang="en-US" sz="800" dirty="0"/>
          </a:p>
        </p:txBody>
      </p:sp>
      <p:sp>
        <p:nvSpPr>
          <p:cNvPr id="60" name="Text 58"/>
          <p:cNvSpPr txBox="1"/>
          <p:nvPr/>
        </p:nvSpPr>
        <p:spPr>
          <a:xfrm>
            <a:off x="9316517" y="2807208"/>
            <a:ext cx="2417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10 November 2025; next phase 10 November 2026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127797" y="3182112"/>
            <a:ext cx="360669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127797" y="3218688"/>
            <a:ext cx="36066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section 524B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8127797" y="3493008"/>
            <a:ext cx="1097280" cy="329184"/>
          </a:xfrm>
          <a:prstGeom prst="rect">
            <a:avLst/>
          </a:prstGeom>
          <a:solidFill>
            <a:srgbClr val="E8F5EF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8155229" y="3493008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Binding statute</a:t>
            </a:r>
            <a:endParaRPr lang="en-US" sz="800" dirty="0"/>
          </a:p>
        </p:txBody>
      </p:sp>
      <p:sp>
        <p:nvSpPr>
          <p:cNvPr id="65" name="Text 63"/>
          <p:cNvSpPr txBox="1"/>
          <p:nvPr/>
        </p:nvSpPr>
        <p:spPr>
          <a:xfrm>
            <a:off x="9316517" y="3483864"/>
            <a:ext cx="2417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cyber plans and SBOM since 29 March 2023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8127797" y="3858768"/>
            <a:ext cx="360669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8127797" y="3895344"/>
            <a:ext cx="36066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CIRCIA rule; chemical facility standards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8127797" y="4169664"/>
            <a:ext cx="1097280" cy="329184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8155229" y="4169664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final; lapsed</a:t>
            </a:r>
            <a:endParaRPr lang="en-US" sz="800" dirty="0"/>
          </a:p>
        </p:txBody>
      </p:sp>
      <p:sp>
        <p:nvSpPr>
          <p:cNvPr id="70" name="Text 68"/>
          <p:cNvSpPr txBox="1"/>
          <p:nvPr/>
        </p:nvSpPr>
        <p:spPr>
          <a:xfrm>
            <a:off x="9316517" y="4160520"/>
            <a:ext cx="2417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not published at cut-off (Tier 3); authority lapsed July 2023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57200" y="4645152"/>
            <a:ext cx="3606698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457200" y="4718304"/>
            <a:ext cx="36066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100" dirty="0"/>
          </a:p>
        </p:txBody>
      </p:sp>
      <p:sp>
        <p:nvSpPr>
          <p:cNvPr id="73" name="Text 71"/>
          <p:cNvSpPr txBox="1"/>
          <p:nvPr/>
        </p:nvSpPr>
        <p:spPr>
          <a:xfrm>
            <a:off x="457200" y="4974336"/>
            <a:ext cx="360669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at cut-off: German NIS2 law in force since 6 December 2025, with 4,739 manufacturing registrations; four Member States referred to the Court of Justice on 8 July 2026; UK Bill without Royal Assent.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4292498" y="4645152"/>
            <a:ext cx="3606698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4292498" y="4718304"/>
            <a:ext cx="36066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Significance</a:t>
            </a:r>
            <a:endParaRPr lang="en-US" sz="1100" dirty="0"/>
          </a:p>
        </p:txBody>
      </p:sp>
      <p:sp>
        <p:nvSpPr>
          <p:cNvPr id="76" name="Text 74"/>
          <p:cNvSpPr txBox="1"/>
          <p:nvPr/>
        </p:nvSpPr>
        <p:spPr>
          <a:xfrm>
            <a:off x="4292498" y="4974336"/>
            <a:ext cx="360669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Supply-chain duties of in-scope customers reach out-of-scope suppliers through contracts, and liability for software and missing security updates applies once national laws are in place.</a:t>
            </a:r>
            <a:endParaRPr lang="en-US" sz="1150" dirty="0"/>
          </a:p>
        </p:txBody>
      </p:sp>
      <p:sp>
        <p:nvSpPr>
          <p:cNvPr id="77" name="Shape 75"/>
          <p:cNvSpPr/>
          <p:nvPr/>
        </p:nvSpPr>
        <p:spPr>
          <a:xfrm>
            <a:off x="8054645" y="4645152"/>
            <a:ext cx="3753002" cy="1207008"/>
          </a:xfrm>
          <a:prstGeom prst="rect">
            <a:avLst/>
          </a:prstGeom>
          <a:solidFill>
            <a:srgbClr val="E8F5EF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8127797" y="4718304"/>
            <a:ext cx="36066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Lens</a:t>
            </a:r>
            <a:endParaRPr lang="en-US" sz="1100" dirty="0"/>
          </a:p>
        </p:txBody>
      </p:sp>
      <p:sp>
        <p:nvSpPr>
          <p:cNvPr id="79" name="Text 77"/>
          <p:cNvSpPr txBox="1"/>
          <p:nvPr/>
        </p:nvSpPr>
        <p:spPr>
          <a:xfrm>
            <a:off x="8127797" y="4974336"/>
            <a:ext cx="360669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that lending documentation reflects product-security reporting, liability exposure and customer-imposed cyber clauses; ask defence suppliers about certification status.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 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Impact of Cyber Incidents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274320"/>
            <a:ext cx="3870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Resilience and financial implications  |  Migrated 1.0-M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772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financial evidence is thin and cannot be added up, but it shows lost output and cash, not response cost, drive the effect.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457200" y="5943600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600760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  </a:t>
            </a:r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differ in currency, statistic type and population and are not summed. Not covered in source edition: five-year cost trend, sector business-interruption benchmarks and ransom data.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00800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S-004, S-005, S-006, S-007, S-011, S-017, S-019, S-021, S-027, S-047 (Tier 1); S-010, S-012 (Tier 2) - Period: Jul 2025 - Sep 2026 - Cut-off 16 Oct 2026 - v1.0-M Migrated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4475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JLR by quarter, GBP million (same company and quarters; not additive)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11480" y="1828800"/>
          <a:ext cx="40233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4663440" y="1481328"/>
            <a:ext cx="1783080" cy="1298448"/>
          </a:xfrm>
          <a:prstGeom prst="rect">
            <a:avLst/>
          </a:prstGeom>
          <a:solidFill>
            <a:srgbClr val="E8F5E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754880" y="1554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GBP 1.9 billion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754880" y="2048256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Modelled UK loss from the JLR event (range 1.6-2.1); modelled, not observed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556248" y="1481328"/>
            <a:ext cx="1783080" cy="1298448"/>
          </a:xfrm>
          <a:prstGeom prst="rect">
            <a:avLst/>
          </a:prstGeom>
          <a:solidFill>
            <a:srgbClr val="E8F5E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647688" y="1554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JPY 40 billion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647688" y="2048256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Asahi 2025 impact, incl. JPY 17 billion incident-related expenses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663440" y="2889504"/>
            <a:ext cx="1783080" cy="1298448"/>
          </a:xfrm>
          <a:prstGeom prst="rect">
            <a:avLst/>
          </a:prstGeom>
          <a:solidFill>
            <a:srgbClr val="E8F5E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754880" y="296265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-28.6%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754880" y="3456432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motor-vehicle output, September 2025; ONS relays trade-body attribution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556248" y="2889504"/>
            <a:ext cx="1783080" cy="1298448"/>
          </a:xfrm>
          <a:prstGeom prst="rect">
            <a:avLst/>
          </a:prstGeom>
          <a:solidFill>
            <a:srgbClr val="E8F5E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647688" y="296265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647688" y="3456432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Stryker Q1 2026 effect; full-year guidance kept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663440" y="4297680"/>
            <a:ext cx="1783080" cy="1298448"/>
          </a:xfrm>
          <a:prstGeom prst="rect">
            <a:avLst/>
          </a:prstGeom>
          <a:solidFill>
            <a:srgbClr val="E8F5E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754880" y="437083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 at risk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4754880" y="4864608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 Scientific: unlikely to meet Q3 and full-year 2026 guidance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556248" y="4297680"/>
            <a:ext cx="1783080" cy="129844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647688" y="437083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disclosed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6647688" y="4864608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Ransom, insurance recoveries and supplier insolvencies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8549640" y="1444752"/>
            <a:ext cx="3184855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549640" y="151790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8549640" y="1773936"/>
            <a:ext cx="3184855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JLR booked GBP 196 million and GBP 64 million of cyber-related exceptional costs in two quarters, while free cash outflow reached GBP 791 million and GBP 1.5 billion with cyber and non-cyber causes.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8549640" y="2926080"/>
            <a:ext cx="3184855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549640" y="29992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Significance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8549640" y="3255264"/>
            <a:ext cx="3184855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tails outlast outages: JLR production was normal by mid-November 2025, but wholesales fell 43.3% in the following quarter; Asahi delayed its FY2025 results by five months.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8458200" y="4407408"/>
            <a:ext cx="3367735" cy="1389888"/>
          </a:xfrm>
          <a:prstGeom prst="rect">
            <a:avLst/>
          </a:prstGeom>
          <a:solidFill>
            <a:srgbClr val="E8F5EF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8549640" y="448056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Lens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8549640" y="4736592"/>
            <a:ext cx="3184855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facility drawdown and receivables concentration after a major customer incident; JLR's undrawn bridge fell from GBP 2.0 billion to GBP 1.0 billion by 31 March 2026.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 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Cyber-to-Credit Risk Transmission &amp; Stress Scenarios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274320"/>
            <a:ext cx="3870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Resilience and financial implications  |  Migrated 1.0-M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903720" y="246888"/>
            <a:ext cx="1143000" cy="274320"/>
          </a:xfrm>
          <a:prstGeom prst="rect">
            <a:avLst/>
          </a:prstGeom>
          <a:solidFill>
            <a:srgbClr val="C8E6D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903720" y="24688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03504"/>
            <a:ext cx="112772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- not a forecast or loss estimate: longer stops move the effect from delayed cash to working-capital drain and then to supplier liquidity and debt service.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457200" y="5943600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600760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  </a:t>
            </a:r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Illustrative: no probabilities and no loss estimates; the 1-week band and the supply-chain mechanism have no duration evidence in the source edition.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00800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S-001, S-003, S-004, S-005, S-006, S-009, S-021, S-025, S-035, S-037 (Tier 1); S-010, S-039 (Tier 2); S-024 (Tier 3) - Period: Sep 2025 - Oct 2026 - Cut-off 16 Oct 2026 - v1.0-M Migrated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417320"/>
            <a:ext cx="1711909" cy="475488"/>
          </a:xfrm>
          <a:prstGeom prst="rect">
            <a:avLst/>
          </a:prstGeom>
          <a:solidFill>
            <a:srgbClr val="00915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1417320"/>
            <a:ext cx="162046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disruption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87397" y="1655064"/>
            <a:ext cx="164592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370277" y="1417320"/>
            <a:ext cx="1711909" cy="475488"/>
          </a:xfrm>
          <a:prstGeom prst="rect">
            <a:avLst/>
          </a:prstGeom>
          <a:solidFill>
            <a:srgbClr val="E8F5E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415997" y="1417320"/>
            <a:ext cx="162046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and shipping stop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00474" y="1655064"/>
            <a:ext cx="164592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283354" y="1417320"/>
            <a:ext cx="1711909" cy="475488"/>
          </a:xfrm>
          <a:prstGeom prst="rect">
            <a:avLst/>
          </a:prstGeom>
          <a:solidFill>
            <a:srgbClr val="E8F5E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329074" y="1417320"/>
            <a:ext cx="162046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deferred or lost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13552" y="1655064"/>
            <a:ext cx="164592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196432" y="1417320"/>
            <a:ext cx="1711909" cy="475488"/>
          </a:xfrm>
          <a:prstGeom prst="rect">
            <a:avLst/>
          </a:prstGeom>
          <a:solidFill>
            <a:srgbClr val="E8F5E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42152" y="1417320"/>
            <a:ext cx="162046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capital and cash drawn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26629" y="1655064"/>
            <a:ext cx="164592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109509" y="1417320"/>
            <a:ext cx="1711909" cy="475488"/>
          </a:xfrm>
          <a:prstGeom prst="rect">
            <a:avLst/>
          </a:prstGeom>
          <a:solidFill>
            <a:srgbClr val="E8F5E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155229" y="1417320"/>
            <a:ext cx="162046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Liquidity facilities and state support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839706" y="1655064"/>
            <a:ext cx="164592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022586" y="1417320"/>
            <a:ext cx="1711909" cy="475488"/>
          </a:xfrm>
          <a:prstGeom prst="rect">
            <a:avLst/>
          </a:prstGeom>
          <a:solidFill>
            <a:srgbClr val="E8F5E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068306" y="1417320"/>
            <a:ext cx="162046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receivables and debt service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11277295" cy="914400"/>
        </p:xfrm>
        <a:graphic>
          <a:graphicData uri="http://schemas.openxmlformats.org/drawingml/2006/table">
            <a:tbl>
              <a:tblPr/>
              <a:tblGrid>
                <a:gridCol w="733483"/>
                <a:gridCol w="1466965"/>
                <a:gridCol w="2017077"/>
                <a:gridCol w="2842245"/>
                <a:gridCol w="1925392"/>
                <a:gridCol w="2292133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Weeks (0-8)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Mechanism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Duration evidence in source edition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Operational effect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Credit channel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week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Common digital dependency (shared enterprise platform)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Duration not evidenced: legacy assumption of three to ten days; no multi-firm outage observed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Many plants stop on precaution while OT is untouched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Correlated delivery gaps; concurrent working-capital draws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weeks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Targeted disruption at a segmented manufacturer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Stryker restored manufacturing and ordering in about four weeks (Tier 1)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 and shipping lost for weeks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Deferred revenue; material quarterly effect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weeks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Targeted disruption at a just-in-time OEM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JLR: about five weeks halted, normal production by mid-November, distribution later (Tier 1)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Supplier tiers idle; dealers lose volume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OEM cash outflow, emergency facilities, supplier prepayment, state guarantee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1263835" y="2578608"/>
            <a:ext cx="1320661" cy="18288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9" name="Shape 26"/>
          <p:cNvSpPr/>
          <p:nvPr/>
        </p:nvSpPr>
        <p:spPr>
          <a:xfrm>
            <a:off x="1263835" y="2578608"/>
            <a:ext cx="165083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15E"/>
            </a:solidFill>
            <a:prstDash val="dash"/>
          </a:ln>
        </p:spPr>
      </p:sp>
      <p:sp>
        <p:nvSpPr>
          <p:cNvPr id="30" name="Shape 27"/>
          <p:cNvSpPr/>
          <p:nvPr/>
        </p:nvSpPr>
        <p:spPr>
          <a:xfrm>
            <a:off x="1263835" y="3127248"/>
            <a:ext cx="1320661" cy="18288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1" name="Shape 28"/>
          <p:cNvSpPr/>
          <p:nvPr/>
        </p:nvSpPr>
        <p:spPr>
          <a:xfrm>
            <a:off x="1263835" y="3127248"/>
            <a:ext cx="660331" cy="182880"/>
          </a:xfrm>
          <a:prstGeom prst="rect">
            <a:avLst/>
          </a:prstGeom>
          <a:solidFill>
            <a:srgbClr val="00915E"/>
          </a:solidFill>
          <a:ln/>
        </p:spPr>
      </p:sp>
      <p:sp>
        <p:nvSpPr>
          <p:cNvPr id="32" name="Shape 29"/>
          <p:cNvSpPr/>
          <p:nvPr/>
        </p:nvSpPr>
        <p:spPr>
          <a:xfrm>
            <a:off x="1263835" y="3675888"/>
            <a:ext cx="1320661" cy="18288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3" name="Shape 30"/>
          <p:cNvSpPr/>
          <p:nvPr/>
        </p:nvSpPr>
        <p:spPr>
          <a:xfrm>
            <a:off x="1263835" y="3675888"/>
            <a:ext cx="1320661" cy="182880"/>
          </a:xfrm>
          <a:prstGeom prst="rect">
            <a:avLst/>
          </a:prstGeom>
          <a:solidFill>
            <a:srgbClr val="00915E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457200" y="4096512"/>
            <a:ext cx="11277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Supply-chain concentration (scenario 3): mechanism kept, band duration not evidenced; the controller case was days old at the cut-off.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457200" y="4325112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Bar: solid = duration evidenced in source edition; dashed outline = duration not evidenced.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57200" y="4626864"/>
            <a:ext cx="3606698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57200" y="4700016"/>
            <a:ext cx="36066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457200" y="4956048"/>
            <a:ext cx="360669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Transmission evidence: JLR's GBP 2 billion bridge facility, GBP 1.5 billion UKEF-guaranteed loan and supplier prepayment through a banking partner; the CMC modelled about GBP 108 million a week of JLR fixed cost and lost profit.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292498" y="4626864"/>
            <a:ext cx="3606698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292498" y="4700016"/>
            <a:ext cx="36066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Significance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4292498" y="4956048"/>
            <a:ext cx="360669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 and supplier dependence, not data loss, drive the cash-flow effect; buffered inventory, multi-sourcing and offline production release shorten it.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8054645" y="4626864"/>
            <a:ext cx="3753002" cy="1243584"/>
          </a:xfrm>
          <a:prstGeom prst="rect">
            <a:avLst/>
          </a:prstGeom>
          <a:solidFill>
            <a:srgbClr val="E8F5EF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8127797" y="4700016"/>
            <a:ext cx="36066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Lens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8127797" y="4956048"/>
            <a:ext cx="360669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Borrower data needed: weeks of liquidity at zero output, revenue share of the largest customer, supply-chain finance use and insurance cover for customer-side disruption.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 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Questionnaire-to-Sector Intelligence Mapping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274320"/>
            <a:ext cx="3870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Credit process integration  |  Migrated 1.0-M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903720" y="246888"/>
            <a:ext cx="1143000" cy="274320"/>
          </a:xfrm>
          <a:prstGeom prst="rect">
            <a:avLst/>
          </a:prstGeom>
          <a:solidFill>
            <a:srgbClr val="C8E6D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903720" y="24688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Provisional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03504"/>
            <a:ext cx="112772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Provisional map: seven generic discussion items link sector threats and incident evidence to credit consequences; no questionnaire was supplied, so no real item IDs are used.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457200" y="5943600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600760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  </a:t>
            </a:r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Provisional: no questionnaire item list was supplied; the map must be rebuilt against actual item IDs.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00800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S-001, S-003, S-016, S-021, S-034, S-035, S-057, S-066 (Tier 1); S-010 (Tier 2); S-024 (Tier 3) - Period: Sep 2025 - Oct 2026 - Cut-off 16 Oct 2026 - v1.0-M Migrated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7295" cy="914400"/>
        </p:xfrm>
        <a:graphic>
          <a:graphicData uri="http://schemas.openxmlformats.org/drawingml/2006/table">
            <a:tbl>
              <a:tblPr/>
              <a:tblGrid>
                <a:gridCol w="2017077"/>
                <a:gridCol w="2383818"/>
                <a:gridCol w="2658874"/>
                <a:gridCol w="4217525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 and topic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Threat -&gt; incident evidence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Operational -&gt; credit consequence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Suggested question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PROV-01 Production without 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P1 -&gt; JLR, Asahi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Plants stop -&gt; revenue and cash loss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 you release production and ship without ERP, MES and identity services for two weeks?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PROV-02 Administrative tool controls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P2 -&gt; Stryker (media-reported)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devices lost -&gt; global stop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 destructive administrative actions need a second approver?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PROV-03 Customer concentration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Cascade -&gt; JLR, CMC model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 stop -&gt; receivables and liquidity stress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share of revenue comes from your largest customer, and how many weeks of stop could you finance?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PROV-04 Installed-base exposure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P3 -&gt; refrigeration controllers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Fleet compromise -&gt; remediation and liability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 you track internet exposure and end-of-support status of products you have sold?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PROV-05 Provider remote access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P4 -&gt; Egide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Provider compromise -&gt; partial site stop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 provider remote access to OT restricted and logged?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PROV-06 Product-law readiness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Reporting and liability rules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Non-compliance -&gt; liability and market access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do you meet product vulnerability reporting that began in September 2026?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PROV-07 Insurance and contracts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Customer-side gap -&gt; CMC finding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Uninsured loss -&gt; margin and covenant pressure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Does your cyber cover include disruption at a key customer?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2004" marB="3200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57200" y="4562856"/>
            <a:ext cx="3606698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" y="4636008"/>
            <a:ext cx="36066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892040"/>
            <a:ext cx="360669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from the source edition's seven actions (A1-A7) and five threat pathways (P1-P5); PROV IDs are placeholders, not questionnaire items.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292498" y="4562856"/>
            <a:ext cx="3606698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292498" y="4636008"/>
            <a:ext cx="36066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Significance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292498" y="4892040"/>
            <a:ext cx="360669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Factors that change materiality: just-in-time versus buffered production, customer concentration, segmentation, installed-base size, defence or device regulation and liquidity headroom.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054645" y="4562856"/>
            <a:ext cx="3753002" cy="1289304"/>
          </a:xfrm>
          <a:prstGeom prst="rect">
            <a:avLst/>
          </a:prstGeom>
          <a:solidFill>
            <a:srgbClr val="E8F5E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127797" y="4636008"/>
            <a:ext cx="36066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Lens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8127797" y="4892040"/>
            <a:ext cx="360669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Borrower answers are self-reported, not confirmed evidence, and trigger no automatic adverse credit judgement.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 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Officer Engagement: Key Questions &amp; Actions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274320"/>
            <a:ext cx="3870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Credit process integration  |  Migrated 1.0-M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772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client discussion topics, each with an early-warning indicator, let credit officers test continuity of production, supplier liquidity and debt service without assessing borrower controls.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457200" y="5943600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600760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  </a:t>
            </a:r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Topics are sector-informed priorities, not findings on any borrower's controls or creditworthiness.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00800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S-001, S-003, S-025, S-034, S-035, S-057, S-066 (Tier 1); S-010 (Tier 2); S-024 (Tier 3) - Period: Sep 2025 - Oct 2026 - Cut-off 16 Oct 2026 - v1.0-M Migrated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447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4447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topic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144475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for the client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14447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Early-warning indicator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1682496"/>
            <a:ext cx="772668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171907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176479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without IT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1764792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long can you release production and ship without ERP, MES and identity services?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45352" y="1773936"/>
            <a:ext cx="0" cy="475488"/>
          </a:xfrm>
          <a:prstGeom prst="line">
            <a:avLst/>
          </a:prstGeom>
          <a:noFill/>
          <a:ln w="25400">
            <a:solidFill>
              <a:srgbClr val="00915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55080" y="176479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Production-pause notice or exchange filing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359152"/>
            <a:ext cx="772668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239572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24414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and supplier concentration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520440" y="2441448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customer stop would stop you, and how would you bridge four weeks?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45352" y="2450592"/>
            <a:ext cx="0" cy="475488"/>
          </a:xfrm>
          <a:prstGeom prst="line">
            <a:avLst/>
          </a:prstGeom>
          <a:noFill/>
          <a:ln w="25400">
            <a:solidFill>
              <a:srgbClr val="00915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55080" y="244144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 incident notice; supplier short-time work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035808"/>
            <a:ext cx="772668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307238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11810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Administrative tools and provider access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520440" y="3118104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can wipe or reach every device and plant, and who approves it?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45352" y="3127248"/>
            <a:ext cx="0" cy="475488"/>
          </a:xfrm>
          <a:prstGeom prst="line">
            <a:avLst/>
          </a:prstGeom>
          <a:noFill/>
          <a:ln w="25400">
            <a:solidFill>
              <a:srgbClr val="00915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55080" y="311810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alert on administrative-tool misuse; disclosure citing an IT provider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3712464"/>
            <a:ext cx="772668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7200" y="37490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37947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already sold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520440" y="379476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of your connected units are online or out of support?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45352" y="3803904"/>
            <a:ext cx="0" cy="475488"/>
          </a:xfrm>
          <a:prstGeom prst="line">
            <a:avLst/>
          </a:prstGeom>
          <a:noFill/>
          <a:ln w="25400">
            <a:solidFill>
              <a:srgbClr val="00915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55080" y="37947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CERT alert naming a product family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4389120"/>
            <a:ext cx="772668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7200" y="442569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38" name="Text 36"/>
          <p:cNvSpPr txBox="1"/>
          <p:nvPr/>
        </p:nvSpPr>
        <p:spPr>
          <a:xfrm>
            <a:off x="1051560" y="447141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Cover, contracts and product law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3520440" y="4471416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disruption at a key customer insured, and are reporting and liability duties met?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45352" y="4480560"/>
            <a:ext cx="0" cy="475488"/>
          </a:xfrm>
          <a:prstGeom prst="line">
            <a:avLst/>
          </a:prstGeom>
          <a:noFill/>
          <a:ln w="25400">
            <a:solidFill>
              <a:srgbClr val="00915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355080" y="447141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Insurer product change; first enforcement action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7200" y="5138928"/>
            <a:ext cx="7726680" cy="56692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566928" y="513892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referral: involve cyber specialists when an indicator fires or answers show no tested fallback; record and monitor rather than change a rating.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549640" y="1444752"/>
            <a:ext cx="3184855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549640" y="151790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8549640" y="1773936"/>
            <a:ext cx="3184855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Topics reframe the source edition's six challenge questions and five monitoring triggers for client discussion.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8549640" y="2926080"/>
            <a:ext cx="3184855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549640" y="2999232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Significance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549640" y="3255264"/>
            <a:ext cx="3184855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improvements a client can make: documented manual release, second-approver controls, revenue diversification, exposure monitoring, restricted provider access and aligned cover.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8458200" y="4407408"/>
            <a:ext cx="3367735" cy="1389888"/>
          </a:xfrm>
          <a:prstGeom prst="rect">
            <a:avLst/>
          </a:prstGeom>
          <a:solidFill>
            <a:srgbClr val="E8F5EF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8549640" y="448056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Lens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8549640" y="4736592"/>
            <a:ext cx="3184855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Proportionate next steps: raise topics at review, record answers as self-reported and escalate to the Risk Committee when a trigger fires.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Manufacturing - Sector Cyber Resilience &amp; Credit Intelligence (migrated 1.0-M)</dc:title>
  <dc:subject>PptxGenJS Presentation</dc:subject>
  <dc:creator>Cyber sectorial analysis - external data only</dc:creator>
  <cp:lastModifiedBy>Cyber sectorial analysis - external data only</cp:lastModifiedBy>
  <cp:revision>1</cp:revision>
  <dcterms:created xsi:type="dcterms:W3CDTF">2026-10-27T14:25:38Z</dcterms:created>
  <dcterms:modified xsi:type="dcterms:W3CDTF">2026-10-27T14:25:38Z</dcterms:modified>
</cp:coreProperties>
</file>