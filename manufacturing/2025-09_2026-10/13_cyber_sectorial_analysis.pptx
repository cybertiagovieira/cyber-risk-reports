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Exposure &amp; Executive Risk Outlook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cyber exposure in the period ran through the enterprise systems that release production, not through plant control systems; it reaches the financial system mainly through lost output, supplier liquidity and state-backed lending.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611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public records for the 13-month reporting period across the EU, EEA and UK with global comparison - company and securities filings, a national CERT alert, statistics-office and central-bank publications, an independent loss model, and ENISA, Dragos and Black Kite benchmarks.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Footprint: EU manufacturing employs 30.2 million people and produces 23.1% of business-economy value added. It drew 25.2% of EU ransomware claims in ENISA's latest review and about 65% of industrial ransomware in the latest quarter tracked by Dragos.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3570979"/>
                <a:gridCol w="1121121"/>
                <a:gridCol w="26989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 judgement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change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loss runs through IT dependency and precautionary shutdown, not direct operational technology (OT) compromise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Disclosed control-system manipulation causing damage at a manufacturer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cascade and liquidity are the systemic pathway in just-in-time production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that lower-tier suppliers absorb multi-week stops without support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effect is dominated by lost output and cash, not response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and response costs exceeding lost margin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State-linked activity targets industrial controllers; no official attribution of a manufacturing disruption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attribution of a European manufacturing disruption to a 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 reaches most manufacturers through product law and contracts rather than entity-level regimes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NIS2 designation beyond the named divisions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large manufacturing counterparties as IT-dependent production systems: ask how long they can release production without enterprise resource planning (ERP), manufacturing execution (MES) and identity services, and which suppliers depend on them for most of their revenue.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outcomes come from listed companies; supplier failures, ransom payments and the state of plant control systems are not publicly disclosed, so their absence is a disclosure gap, not evidence of zero effect.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Threats &amp; Top 5 Cyber Attacks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incidents meet the evidence standard; four stopped production through IT-side compromise and one compromised manufacturers' controllers in customer premises, so both the enterprise estate and the installed product base are exposure points.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611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pathways (patterns, not attacks): P1 ransomware and data extortion against enterprise IT; P2 destructive misuse of administrative platforms; P3 internet-exposed OT and fielded products; P4 supplier and service-provider compromise; P5 data theft with intellectual-property and export-control exposure.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ENISA found manufacturing the largest EU ransomware target, with exfiltration overtaking encryption; Dragos found no recent ransomware case reaching control-system manipulation, and 117 incidents at integrators and equipment makers in one quarter.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1847774"/>
                <a:gridCol w="1595805"/>
                <a:gridCol w="2435702"/>
                <a:gridCol w="1511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incident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Subsector and place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consequence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strength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Jaguar Land Rover shutdown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 original equipment manufacturer (OEM); UK and Slovakia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five weeks of halted production; supplier cascade; recorded vehicle-output fall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filings, statistics office, central 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Asahi Group ransomware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Beverages and food; Japan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Shipments halted; about JPY 40 billion impact; results delayed five months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disclosures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Stryker global IT disruption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devices; global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quarterly effect; manufacturing and ordering restored in about four weeks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Securities filings; media-reported claim unconfirmed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Boston Scientific outage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devices; global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Manufacturing, ordering and shipping disrupted; guidance unlikely to be met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Material-incident filing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Refrigeration controller compromise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 equipment makers; France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Numerous controllers compromised; hundreds of stores affected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CERT alert; scale from media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counterparty reviews towards IT-OT production dependency, controls over administrative tools and the exposure of manufacturers' installed products, rather than counting ransomware claims alone.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of five incidents are EU or UK, reflecting US disclosure rules; chemicals, metals and basic materials have no named case with an official outcome, and the controller case is days 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Manufacturing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financial evidence is thin and cannot be added up, but it consistently shows that lost output and cash, not response cost, drive the effect, and that a single OEM stop can show up in official vehicle-output statistics and require state-backed lending.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611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quarterly and annual company results, securities filings, the UK statistics office and central bank, an industry output series and the Cyber Monitoring Centre model of the JLR event.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JLR's labelled cyber costs were GBP 260 million over two quarters while quarterly free cash outflow reached GBP 1.5 billion. Transmission ran through a GBP 2 billion bridge facility, supplier prepayment via a banking partner and a government-guaranteed GBP 1.5 billion loan.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1679794"/>
                <a:gridCol w="4199486"/>
                <a:gridCol w="1511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evidence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stoppage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five weeks at JLR; about four weeks to full restoration at Stryker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Incident-related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GBP 260 million at JLR over two quarters; JPY 17 billion of expenses at Asahi incl. inventory write-offs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for two firms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and delivery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 quarterly revenue down 24% and 39%; wholesales down 43.3%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causes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 free cash outflow of GBP 791 million and GBP 1.5 billion in two quarters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cascade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5,000 UK organisations (also given as more than 2,700); GBP 1.9 billion modelled loss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Modelled only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Macro-economic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motor-vehicle output down 28.6% in the stop month; central bank cites weaker growth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and insolvency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Customer-side disruption often uninsured; no supplier insolvency officially attributed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qualitative; insolvency not evidenced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facility drawdown, supply-chain finance usage and receivables concentration at manufacturing counterparties after a major customer incident, and test how a four-week OEM stop would surface in early-warning indicators.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differ in currency, statistic type and population and are not summed; JLR revenue and cash effects also reflect tariffs and model wind-down; ransom and insurance recoveries were not disclosed.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Worst-Case Scenarios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stress pathways - a shared enterprise platform failure, a targeted stop at one large manufacturer and a compromise spreading through a supplier layer - converge on lost output, supplier liquidity and liability; they are stress narratives, not forecasts or loss estimates.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1687154"/>
                <a:gridCol w="3241112"/>
                <a:gridCol w="3152315"/>
                <a:gridCol w="31967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Common digital dependency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Targeted operational disruption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Supply-chain concentration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Multi-day loss or misuse of identity, endpoint, ERP, MES or supplier-portal services used by many firms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or wipe at one high-volume OEM or tier-1 supplier for four to eight weeks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 of an OT vendor's fielded controllers, an integrator or a component supplier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Propagation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plants stop on precaution while OT is untouched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Just-in-time call-offs stop; thousands of suppliers idle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supplier's weakness reaches many customers at once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transmission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Correlated delivery gaps; concurrent working-capital draws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facilities, supplier prepayment, possible state guarantee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Remediation, warranty and liability costs; component shortages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signposts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outage notices; government alerts on platform misuse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Production-pause extensions; supplier short-time 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 alerts naming products; disclosures citing an IT provider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Limiting conditions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production release; tenant isolation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Segmented estates restored within weeks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 management; supported firmware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the JLR and medical-device shutdowns, a reported administrative-tool wipe, a cross-sector software outage, the controller compromise and a supplier hit through its IT provider; durations are illustrative.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45352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 is broad and shallow, scenario 2 narrow and deep, scenario 3 broad through one supplier; all three reach banks through counterparty liquidity and liability rather than direct loss.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which counterparties share the same enterprise platforms and OT vendors, and how many weeks of stop the largest manufacturing counterparties and their dependent suppliers can finance.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probabilities are assigned because no defensible external basis exists; no multi-day common-platform outage across many manufacturers was observed in the period.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Jaguar Land Rover Cyber Incident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precautionary shutdown of JLR's enterprise systems stopped production for about five weeks; in the following quarter wholesales fell 43% and free cash outflow reached GBP 1.5 billion, with tariffs and model wind-down also contributing. Suppliers needed customer-funded prepayment and the state guaranteed a GBP 1.5 billion bank loan.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611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company statements and four quarterly releases, the government guarantee release, a parliamentary letter, the statistics office, the central bank, an industry output series and the Cyber Monitoring Centre model; selected as the only in-period case with this depth.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production stopped because the systems that schedule, supply and release it were shut down; the plant control state and the initial access route were not disclosed, and a criminal group's claim was not confirmed.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1595805"/>
                <a:gridCol w="1343835"/>
                <a:gridCol w="4451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Elapsed 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Shutdown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systems shut down; production and retail disrupted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3-4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GBP 2 billion bridge facility; state guarantee announced to support the supply chain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restart from engines and batteries; suppliers prepaid through a 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production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week 11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back to normal; distribution still catching 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trail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quarters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GBP 260 million cyber costs; wholesales down 43.3%; vehicle-output fall recorded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month 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loan undrawn; production recovered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multi-week stop at a large OEM as a foreseeable credit event for its supplier base: map supplier revenue concentration and know which supply-chain finance and guarantee channels would be used.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does not show the access route, plant control state, any ransom, the full-year cyber cost or any supplier insolvency; the economy-wide loss is modelled and covers UK operations only.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Dependencies &amp; Regulatory Outlook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concentration sits in enterprise systems, administrative tools, OT vendors' installed bases, integrators and just-in-time supplier tiers; regulation reaches most manufacturers through product law and contracts, with NIS2 limited to named activities.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36118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Evidenced dependency chains: enterprise IT to production release; administrative tools to every device; OT vendor installed base to many customer sites; integrators and managed IT to several plants; one OEM to thousands of suppliers; manufacturer software to customers in other sectors.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NIS2 applies the population is large: Germany registered 4,739 entities under manufacturing of goods, while four Member States were referred to the Court of Justice for not transposing.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1973758"/>
                <a:gridCol w="1805779"/>
                <a:gridCol w="36115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status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 for Manufacturing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Binding via national law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activities: electronics, electrical equipment, machinery and vehicles (NACE C26-C30), medical devices, chemicals, food and pharmaceuticals; others only by national extension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Resilience Act (CRA)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applicable; reporting live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In-scope connected-product makers report exploited flaws; full duties in about 14 months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Machinery Regulation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in about three months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against corruption becomes a machine safety requirement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Liability Directive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Transposition due within two months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and missing security updates can create strict liability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Regulation 155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Binding for vehicle type approval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OEMs must manage cyber risk across development, production and suppliers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Cyber Security and Resilience Bill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Bill, not law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reach managed providers and designated suppliers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defence certification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requirement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Defence-supply-chain manufacturers face certification gates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lending and guarantee documentation for manufacturing counterparties reflects product-security reporting, liability exposure and customer-imposed cyber clauses, and track the UK Bill and liability transposition.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NIS2 extensions were not surveyed exhaustively; several legal texts were confirmed from official metadata and reproductions; market shares of manufacturing software and OT vendors are not public.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 &amp; Security Framework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evidence-linked priorities address the pathways: production release without IT, control of administrative tools, supplier liquidity, installed-base exposure, provider access, product-law readiness and insurance alignment.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3265626"/>
                <a:gridCol w="3788126"/>
                <a:gridCol w="2220626"/>
                <a:gridCol w="20029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and horizon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question for 1LoD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completion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trigger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IT-OT production dependency (0-6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top counterparties release production and ship without ERP, MES and identity?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Manual-release procedure; recovery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Production-pause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 Administrative tools (0-3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assessments test approval controls on mass wipe actions?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on administrative-tool misuse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Supplier liquidity (0-6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programme suppliers depend on one customer?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map; stress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 incident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 Installed base (3-12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equipment makers track exposed and end-of-life units?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 and support register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 alert naming a 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Provider access (3-12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provider remote access to OT restricted and logged?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inventory and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Disclosure citing an IT provider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A6 Product-law readiness (0-6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counterparties meet new reporting and liability duties?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procedure; support periods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enforcement 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A7 Insurance and contracts (6-12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customer-side disruption insured or priced?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Insurer product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36576" marB="36576" anchor="t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46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base: CERT recommendations for exposed controllers, a US alert on administrative tools, the JLR supplier scheme, the independent loss model and the new product rules.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45352" y="4846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Interpretation.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are reference vocabularies, not law: NIST CSF 2.0 and its draft manufacturing profile, NIST SP 800-82, IEC 62443, ISO/IEC 27001 and 27036, and VDA ISA with TISAX for automotive.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687568"/>
            <a:ext cx="11277295" cy="0"/>
          </a:xfrm>
          <a:prstGeom prst="line">
            <a:avLst/>
          </a:prstGeom>
          <a:noFill/>
          <a:ln w="9525">
            <a:solidFill>
              <a:srgbClr val="C9D1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5760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priority a First Line of Defence (1LoD) owner and a dated completion artefact, and escalate to the Risk Committee when a monitoring trigger fires.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576072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are sector priorities drawn from public evidence, not findings about any institution's controls, losses or risk appetite.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cyber sectorial analysis</dc:title>
  <dc:subject>PptxGenJS Presentation</dc:subject>
  <dc:creator>Cyber sectorial analysis - external data only</dc:creator>
  <cp:lastModifiedBy>Cyber sectorial analysis - external data only</cp:lastModifiedBy>
  <cp:revision>1</cp:revision>
  <dcterms:created xsi:type="dcterms:W3CDTF">2026-10-16T06:31:26Z</dcterms:created>
  <dcterms:modified xsi:type="dcterms:W3CDTF">2026-10-16T06:31:26Z</dcterms:modified>
</cp:coreProperties>
</file>