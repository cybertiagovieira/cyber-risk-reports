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Playfair Display" charset="-122" pitchFamily="34"/>
      <p:regular r:id="rId14"/>
    </p:embeddedFont>
    <p:embeddedFont>
      <p:font typeface="Inter" charset="-122" pitchFamily="3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Sector Exposure &amp; Executive Risk Outlook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thesis-label"/>
          <p:cNvSpPr/>
          <p:nvPr/>
        </p:nvSpPr>
        <p:spPr>
          <a:xfrm>
            <a:off x="508000" y="14732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THESIS</a:t>
            </a:r>
            <a:endParaRPr lang="en-US" sz="1200" dirty="0"/>
          </a:p>
        </p:txBody>
      </p:sp>
      <p:sp>
        <p:nvSpPr>
          <p:cNvPr id="5" name="thesis"/>
          <p:cNvSpPr/>
          <p:nvPr/>
        </p:nvSpPr>
        <p:spPr>
          <a:xfrm>
            <a:off x="508000" y="1854200"/>
            <a:ext cx="70485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Energy-sector resilience increasingly depends on visibility, control integrity and shared digital dependencies.</a:t>
            </a:r>
            <a:endParaRPr lang="en-US" sz="180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evidence supports an exposure outlook, not a quantified EU or UK sector loss event for the current reporting month.</a:t>
            </a:r>
            <a:endParaRPr lang="en-US" sz="1800" dirty="0"/>
          </a:p>
        </p:txBody>
      </p:sp>
      <p:sp>
        <p:nvSpPr>
          <p:cNvPr id="6" name="vertical"/>
          <p:cNvSpPr/>
          <p:nvPr/>
        </p:nvSpPr>
        <p:spPr>
          <a:xfrm>
            <a:off x="8064500" y="1460500"/>
            <a:ext cx="9144" cy="51435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drivers-label"/>
          <p:cNvSpPr/>
          <p:nvPr/>
        </p:nvSpPr>
        <p:spPr>
          <a:xfrm>
            <a:off x="8572500" y="14732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DRIVERS</a:t>
            </a:r>
            <a:endParaRPr lang="en-US" sz="1200" dirty="0"/>
          </a:p>
        </p:txBody>
      </p:sp>
      <p:sp>
        <p:nvSpPr>
          <p:cNvPr id="8" name="driver-one"/>
          <p:cNvSpPr/>
          <p:nvPr/>
        </p:nvSpPr>
        <p:spPr>
          <a:xfrm>
            <a:off x="8572500" y="1905000"/>
            <a:ext cx="2984500" cy="1460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driver-two"/>
          <p:cNvSpPr/>
          <p:nvPr/>
        </p:nvSpPr>
        <p:spPr>
          <a:xfrm>
            <a:off x="12128500" y="1905000"/>
            <a:ext cx="2984500" cy="1460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driver-three"/>
          <p:cNvSpPr/>
          <p:nvPr/>
        </p:nvSpPr>
        <p:spPr>
          <a:xfrm>
            <a:off x="8572500" y="3810000"/>
            <a:ext cx="2984500" cy="1460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driver-four"/>
          <p:cNvSpPr/>
          <p:nvPr/>
        </p:nvSpPr>
        <p:spPr>
          <a:xfrm>
            <a:off x="12128500" y="3810000"/>
            <a:ext cx="2984500" cy="1460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driver-one-text"/>
          <p:cNvSpPr/>
          <p:nvPr/>
        </p:nvSpPr>
        <p:spPr>
          <a:xfrm>
            <a:off x="8826500" y="2209800"/>
            <a:ext cx="2476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generation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Inverters and maintenance systems</a:t>
            </a:r>
            <a:endParaRPr lang="en-US" sz="1200" dirty="0"/>
          </a:p>
        </p:txBody>
      </p:sp>
      <p:sp>
        <p:nvSpPr>
          <p:cNvPr id="13" name="driver-two-text"/>
          <p:cNvSpPr/>
          <p:nvPr/>
        </p:nvSpPr>
        <p:spPr>
          <a:xfrm>
            <a:off x="12382500" y="2209800"/>
            <a:ext cx="2476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operations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and control pathways</a:t>
            </a:r>
            <a:endParaRPr lang="en-US" sz="1200" dirty="0"/>
          </a:p>
        </p:txBody>
      </p:sp>
      <p:sp>
        <p:nvSpPr>
          <p:cNvPr id="14" name="driver-three-text"/>
          <p:cNvSpPr/>
          <p:nvPr/>
        </p:nvSpPr>
        <p:spPr>
          <a:xfrm>
            <a:off x="8826500" y="4114800"/>
            <a:ext cx="2476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services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digital dependencies</a:t>
            </a:r>
            <a:endParaRPr lang="en-US" sz="1200" dirty="0"/>
          </a:p>
        </p:txBody>
      </p:sp>
      <p:sp>
        <p:nvSpPr>
          <p:cNvPr id="15" name="driver-four-text"/>
          <p:cNvSpPr/>
          <p:nvPr/>
        </p:nvSpPr>
        <p:spPr>
          <a:xfrm>
            <a:off x="12382500" y="4114800"/>
            <a:ext cx="2476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Cross-border flows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Propagation beyond one operator</a:t>
            </a:r>
            <a:endParaRPr lang="en-US" sz="1200" dirty="0"/>
          </a:p>
        </p:txBody>
      </p:sp>
      <p:sp>
        <p:nvSpPr>
          <p:cNvPr id="16" name="bottom-divider"/>
          <p:cNvSpPr/>
          <p:nvPr/>
        </p:nvSpPr>
        <p:spPr>
          <a:xfrm>
            <a:off x="508000" y="71120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decision"/>
          <p:cNvSpPr/>
          <p:nvPr/>
        </p:nvSpPr>
        <p:spPr>
          <a:xfrm>
            <a:off x="508000" y="74930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Committee focus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monitor pathways that can turn loss of visibility or control into correlated service disruption.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Threats &amp; Top 5 Cyber Attacks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subtitle"/>
          <p:cNvSpPr/>
          <p:nvPr/>
        </p:nvSpPr>
        <p:spPr>
          <a:xfrm>
            <a:off x="508000" y="1422400"/>
            <a:ext cx="1244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threat patterns prioritised by operational reach and dependency exposure.</a:t>
            </a:r>
            <a:endParaRPr lang="en-US" sz="1800" dirty="0"/>
          </a:p>
        </p:txBody>
      </p:sp>
      <p:graphicFrame>
        <p:nvGraphicFramePr>
          <p:cNvPr id="5" name="threa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209800"/>
          <a:ext cx="15240000" cy="4191000"/>
        </p:xfrm>
        <a:graphic>
          <a:graphicData uri="http://schemas.openxmlformats.org/drawingml/2006/table">
            <a:tbl>
              <a:tblPr/>
              <a:tblGrid>
                <a:gridCol w="3048000"/>
                <a:gridCol w="6096000"/>
                <a:gridCol w="6096000"/>
              </a:tblGrid>
              <a:tr h="5334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pathway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Management implication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Exposed PLCs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Logic, alarm or display changes through reachable engineering systems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Track remote control and engineering access exposure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Edge devices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VPN, firewall or router weakness becomes a foothold into support networks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Maintain visibility over remote access and perimeter dependencies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Ransomware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theft and encryption create restoration and disclosure pressure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 enterprise recovery from operational-service decision paths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Destructive malware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Loss of remote visibility or HMI functionality impairs control decisions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 manual fallback and trusted operator communications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 Dependency targeting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Shared software, services or suppliers extend the blast radius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Escalate correlated dependency indicators before separate incidents accumulate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ignal"/>
          <p:cNvSpPr/>
          <p:nvPr/>
        </p:nvSpPr>
        <p:spPr>
          <a:xfrm>
            <a:off x="508000" y="6959600"/>
            <a:ext cx="1473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signal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control and visibility impairment can matter before electricity supply stops.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Financial Impact: European Energy and Utilities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subtitle"/>
          <p:cNvSpPr/>
          <p:nvPr/>
        </p:nvSpPr>
        <p:spPr>
          <a:xfrm>
            <a:off x="508000" y="1422400"/>
            <a:ext cx="1346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evidence supports impact transmission pathways - not a bank-specific loss estimate.</a:t>
            </a:r>
            <a:endParaRPr lang="en-US" sz="1800" dirty="0"/>
          </a:p>
        </p:txBody>
      </p:sp>
      <p:sp>
        <p:nvSpPr>
          <p:cNvPr id="5" name="stage-one"/>
          <p:cNvSpPr/>
          <p:nvPr/>
        </p:nvSpPr>
        <p:spPr>
          <a:xfrm>
            <a:off x="609600" y="2984500"/>
            <a:ext cx="2794000" cy="1714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tage-two"/>
          <p:cNvSpPr/>
          <p:nvPr/>
        </p:nvSpPr>
        <p:spPr>
          <a:xfrm>
            <a:off x="4508500" y="2984500"/>
            <a:ext cx="2794000" cy="1714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tage-three"/>
          <p:cNvSpPr/>
          <p:nvPr/>
        </p:nvSpPr>
        <p:spPr>
          <a:xfrm>
            <a:off x="8407400" y="2984500"/>
            <a:ext cx="2794000" cy="1714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tage-four"/>
          <p:cNvSpPr/>
          <p:nvPr/>
        </p:nvSpPr>
        <p:spPr>
          <a:xfrm>
            <a:off x="12306300" y="2984500"/>
            <a:ext cx="2794000" cy="1714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tage-one-text"/>
          <p:cNvSpPr/>
          <p:nvPr/>
        </p:nvSpPr>
        <p:spPr>
          <a:xfrm>
            <a:off x="863600" y="3302000"/>
            <a:ext cx="228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Intrusion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Engineering, perimeter or support environment</a:t>
            </a:r>
            <a:endParaRPr lang="en-US" sz="1800" dirty="0"/>
          </a:p>
        </p:txBody>
      </p:sp>
      <p:sp>
        <p:nvSpPr>
          <p:cNvPr id="10" name="stage-two-text"/>
          <p:cNvSpPr/>
          <p:nvPr/>
        </p:nvSpPr>
        <p:spPr>
          <a:xfrm>
            <a:off x="4762500" y="3302000"/>
            <a:ext cx="228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Uncertainty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visibility, command or communications impaired</a:t>
            </a:r>
            <a:endParaRPr lang="en-US" sz="1800" dirty="0"/>
          </a:p>
        </p:txBody>
      </p:sp>
      <p:sp>
        <p:nvSpPr>
          <p:cNvPr id="11" name="stage-three-text"/>
          <p:cNvSpPr/>
          <p:nvPr/>
        </p:nvSpPr>
        <p:spPr>
          <a:xfrm>
            <a:off x="8661400" y="3302000"/>
            <a:ext cx="228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response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Restrictions and restoration activity increase demand</a:t>
            </a:r>
            <a:endParaRPr lang="en-US" sz="1800" dirty="0"/>
          </a:p>
        </p:txBody>
      </p:sp>
      <p:sp>
        <p:nvSpPr>
          <p:cNvPr id="12" name="stage-four-text"/>
          <p:cNvSpPr/>
          <p:nvPr/>
        </p:nvSpPr>
        <p:spPr>
          <a:xfrm>
            <a:off x="12560300" y="3302000"/>
            <a:ext cx="228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effects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Customer, market, transport and public-service dependencies</a:t>
            </a:r>
            <a:endParaRPr lang="en-US" sz="1800" dirty="0"/>
          </a:p>
        </p:txBody>
      </p:sp>
      <p:sp>
        <p:nvSpPr>
          <p:cNvPr id="13" name="arrow-one"/>
          <p:cNvSpPr/>
          <p:nvPr/>
        </p:nvSpPr>
        <p:spPr>
          <a:xfrm>
            <a:off x="3403600" y="3835400"/>
            <a:ext cx="1104900" cy="9144"/>
          </a:xfrm>
          <a:prstGeom prst="line">
            <a:avLst/>
          </a:prstGeom>
          <a:ln w="381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4" name="arrow-two"/>
          <p:cNvSpPr/>
          <p:nvPr/>
        </p:nvSpPr>
        <p:spPr>
          <a:xfrm>
            <a:off x="7302500" y="3835400"/>
            <a:ext cx="1104900" cy="9144"/>
          </a:xfrm>
          <a:prstGeom prst="line">
            <a:avLst/>
          </a:prstGeom>
          <a:ln w="381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5" name="arrow-three"/>
          <p:cNvSpPr/>
          <p:nvPr/>
        </p:nvSpPr>
        <p:spPr>
          <a:xfrm>
            <a:off x="11201400" y="3835400"/>
            <a:ext cx="1104900" cy="9144"/>
          </a:xfrm>
          <a:prstGeom prst="line">
            <a:avLst/>
          </a:prstGeom>
          <a:ln w="381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6" name="bottom-divider"/>
          <p:cNvSpPr/>
          <p:nvPr/>
        </p:nvSpPr>
        <p:spPr>
          <a:xfrm>
            <a:off x="508000" y="64135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conclusion"/>
          <p:cNvSpPr/>
          <p:nvPr/>
        </p:nvSpPr>
        <p:spPr>
          <a:xfrm>
            <a:off x="508000" y="68580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implication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 disruption can create material operational and external effects before public data supports a direct loss figure.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Financial Impact: Worst-Case Scenarios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subtitle"/>
          <p:cNvSpPr/>
          <p:nvPr/>
        </p:nvSpPr>
        <p:spPr>
          <a:xfrm>
            <a:off x="508000" y="1422400"/>
            <a:ext cx="139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Plausible sector pathways - scenario assumptions, not forecasts or observed outcomes.</a:t>
            </a:r>
            <a:endParaRPr lang="en-US" sz="1800" dirty="0"/>
          </a:p>
        </p:txBody>
      </p:sp>
      <p:sp>
        <p:nvSpPr>
          <p:cNvPr id="5" name="scenario-a"/>
          <p:cNvSpPr/>
          <p:nvPr/>
        </p:nvSpPr>
        <p:spPr>
          <a:xfrm>
            <a:off x="508000" y="2286000"/>
            <a:ext cx="4699000" cy="3937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cenario-b"/>
          <p:cNvSpPr/>
          <p:nvPr/>
        </p:nvSpPr>
        <p:spPr>
          <a:xfrm>
            <a:off x="5778500" y="2286000"/>
            <a:ext cx="4699000" cy="3937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cenario-c"/>
          <p:cNvSpPr/>
          <p:nvPr/>
        </p:nvSpPr>
        <p:spPr>
          <a:xfrm>
            <a:off x="11049000" y="2286000"/>
            <a:ext cx="4699000" cy="3937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cenario-a-text"/>
          <p:cNvSpPr/>
          <p:nvPr/>
        </p:nvSpPr>
        <p:spPr>
          <a:xfrm>
            <a:off x="812800" y="2667000"/>
            <a:ext cx="4089400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Common dependency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shared digital service fails or is compromised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Transmission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correlated loss of visibility, command or scheduling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signal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supplier advisories or dependency disclosures</a:t>
            </a:r>
            <a:endParaRPr lang="en-US" sz="1800" dirty="0"/>
          </a:p>
        </p:txBody>
      </p:sp>
      <p:sp>
        <p:nvSpPr>
          <p:cNvPr id="9" name="scenario-b-text"/>
          <p:cNvSpPr/>
          <p:nvPr/>
        </p:nvSpPr>
        <p:spPr>
          <a:xfrm>
            <a:off x="6083300" y="2667000"/>
            <a:ext cx="4089400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Remote OT disruption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exposed engineering or access path is reached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Transmission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altered logic or loss of remote control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signal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authority alert or control anomaly</a:t>
            </a:r>
            <a:endParaRPr lang="en-US" sz="1800" dirty="0"/>
          </a:p>
        </p:txBody>
      </p:sp>
      <p:sp>
        <p:nvSpPr>
          <p:cNvPr id="10" name="scenario-c-text"/>
          <p:cNvSpPr/>
          <p:nvPr/>
        </p:nvSpPr>
        <p:spPr>
          <a:xfrm>
            <a:off x="11353800" y="2667000"/>
            <a:ext cx="4089400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Enterprise intrusion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ransomware or destructive activity affects support networks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Transmission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operating restrictions while separation is assessed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signal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public incident or coordination notice</a:t>
            </a:r>
            <a:endParaRPr lang="en-US" sz="1800" dirty="0"/>
          </a:p>
        </p:txBody>
      </p:sp>
      <p:sp>
        <p:nvSpPr>
          <p:cNvPr id="11" name="decision"/>
          <p:cNvSpPr/>
          <p:nvPr/>
        </p:nvSpPr>
        <p:spPr>
          <a:xfrm>
            <a:off x="508000" y="6921500"/>
            <a:ext cx="1473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use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test whether monitoring would identify dependency exposure before a sector disruption is reported.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Case Study: Colonial Pipeline Ransomware Incident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subtitle"/>
          <p:cNvSpPr/>
          <p:nvPr/>
        </p:nvSpPr>
        <p:spPr>
          <a:xfrm>
            <a:off x="508000" y="1422400"/>
            <a:ext cx="139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public case - bounded read-across for shutdown and restoration coordination.</a:t>
            </a:r>
            <a:endParaRPr lang="en-US" sz="1800" dirty="0"/>
          </a:p>
        </p:txBody>
      </p:sp>
      <p:sp>
        <p:nvSpPr>
          <p:cNvPr id="5" name="timeline"/>
          <p:cNvSpPr/>
          <p:nvPr/>
        </p:nvSpPr>
        <p:spPr>
          <a:xfrm>
            <a:off x="1841500" y="4000500"/>
            <a:ext cx="11684000" cy="9144"/>
          </a:xfrm>
          <a:prstGeom prst="line">
            <a:avLst/>
          </a:prstGeom>
          <a:ln w="38100">
            <a:solidFill>
              <a:srgbClr val="00915E"/>
            </a:solidFill>
            <a:prstDash val="solid"/>
          </a:ln>
        </p:spPr>
      </p:sp>
      <p:sp>
        <p:nvSpPr>
          <p:cNvPr id="6" name="point-one"/>
          <p:cNvSpPr/>
          <p:nvPr/>
        </p:nvSpPr>
        <p:spPr>
          <a:xfrm>
            <a:off x="1714500" y="38735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7" name="point-two"/>
          <p:cNvSpPr/>
          <p:nvPr/>
        </p:nvSpPr>
        <p:spPr>
          <a:xfrm>
            <a:off x="5461000" y="38735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8" name="point-three"/>
          <p:cNvSpPr/>
          <p:nvPr/>
        </p:nvSpPr>
        <p:spPr>
          <a:xfrm>
            <a:off x="9207500" y="38735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9" name="point-four"/>
          <p:cNvSpPr/>
          <p:nvPr/>
        </p:nvSpPr>
        <p:spPr>
          <a:xfrm>
            <a:off x="13398500" y="38735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10" name="event-one"/>
          <p:cNvSpPr/>
          <p:nvPr/>
        </p:nvSpPr>
        <p:spPr>
          <a:xfrm>
            <a:off x="889000" y="2603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Ransomware identified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state assessed</a:t>
            </a:r>
            <a:endParaRPr lang="en-US" sz="1200" dirty="0"/>
          </a:p>
        </p:txBody>
      </p:sp>
      <p:sp>
        <p:nvSpPr>
          <p:cNvPr id="11" name="event-two"/>
          <p:cNvSpPr/>
          <p:nvPr/>
        </p:nvSpPr>
        <p:spPr>
          <a:xfrm>
            <a:off x="4635500" y="4508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Precautionary stop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 protection decision</a:t>
            </a:r>
            <a:endParaRPr lang="en-US" sz="1200" dirty="0"/>
          </a:p>
        </p:txBody>
      </p:sp>
      <p:sp>
        <p:nvSpPr>
          <p:cNvPr id="12" name="event-three"/>
          <p:cNvSpPr/>
          <p:nvPr/>
        </p:nvSpPr>
        <p:spPr>
          <a:xfrm>
            <a:off x="8382000" y="2603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Restoration activity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and technical recovery</a:t>
            </a:r>
            <a:endParaRPr lang="en-US" sz="1200" dirty="0"/>
          </a:p>
        </p:txBody>
      </p:sp>
      <p:sp>
        <p:nvSpPr>
          <p:cNvPr id="13" name="event-four"/>
          <p:cNvSpPr/>
          <p:nvPr/>
        </p:nvSpPr>
        <p:spPr>
          <a:xfrm>
            <a:off x="12573000" y="4508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response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and authority coordination</a:t>
            </a:r>
            <a:endParaRPr lang="en-US" sz="1200" dirty="0"/>
          </a:p>
        </p:txBody>
      </p:sp>
      <p:sp>
        <p:nvSpPr>
          <p:cNvPr id="14" name="bottom-divider"/>
          <p:cNvSpPr/>
          <p:nvPr/>
        </p:nvSpPr>
        <p:spPr>
          <a:xfrm>
            <a:off x="508000" y="63500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5" name="lesson"/>
          <p:cNvSpPr/>
          <p:nvPr/>
        </p:nvSpPr>
        <p:spPr>
          <a:xfrm>
            <a:off x="508000" y="67945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lesson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uncertainty about IT-to-OT separation can drive operating decisions and multi-party restoration. It is not a European utility loss benchmark.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Systemic Dependencies &amp; Regulatory Outlook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subtitle"/>
          <p:cNvSpPr/>
          <p:nvPr/>
        </p:nvSpPr>
        <p:spPr>
          <a:xfrm>
            <a:off x="508000" y="14224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concentration and sector regulatory direction shape the resilience horizon.</a:t>
            </a:r>
            <a:endParaRPr lang="en-US" sz="1800" dirty="0"/>
          </a:p>
        </p:txBody>
      </p:sp>
      <p:sp>
        <p:nvSpPr>
          <p:cNvPr id="5" name="dependency-label"/>
          <p:cNvSpPr/>
          <p:nvPr/>
        </p:nvSpPr>
        <p:spPr>
          <a:xfrm>
            <a:off x="508000" y="21336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PATHWAY</a:t>
            </a:r>
            <a:endParaRPr lang="en-US" sz="1200" dirty="0"/>
          </a:p>
        </p:txBody>
      </p:sp>
      <p:sp>
        <p:nvSpPr>
          <p:cNvPr id="6" name="supplier"/>
          <p:cNvSpPr/>
          <p:nvPr/>
        </p:nvSpPr>
        <p:spPr>
          <a:xfrm>
            <a:off x="508000" y="2730500"/>
            <a:ext cx="2095500" cy="1333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ervice"/>
          <p:cNvSpPr/>
          <p:nvPr/>
        </p:nvSpPr>
        <p:spPr>
          <a:xfrm>
            <a:off x="3302000" y="2730500"/>
            <a:ext cx="2095500" cy="1333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flows"/>
          <p:cNvSpPr/>
          <p:nvPr/>
        </p:nvSpPr>
        <p:spPr>
          <a:xfrm>
            <a:off x="6096000" y="2730500"/>
            <a:ext cx="2095500" cy="1333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effect"/>
          <p:cNvSpPr/>
          <p:nvPr/>
        </p:nvSpPr>
        <p:spPr>
          <a:xfrm>
            <a:off x="8890000" y="2730500"/>
            <a:ext cx="2095500" cy="1333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upplier-text"/>
          <p:cNvSpPr/>
          <p:nvPr/>
        </p:nvSpPr>
        <p:spPr>
          <a:xfrm>
            <a:off x="698500" y="311150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supplier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Product, service or process</a:t>
            </a:r>
            <a:endParaRPr lang="en-US" sz="1200" dirty="0"/>
          </a:p>
        </p:txBody>
      </p:sp>
      <p:sp>
        <p:nvSpPr>
          <p:cNvPr id="11" name="service-text"/>
          <p:cNvSpPr/>
          <p:nvPr/>
        </p:nvSpPr>
        <p:spPr>
          <a:xfrm>
            <a:off x="3492500" y="311150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service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dependency</a:t>
            </a:r>
            <a:endParaRPr lang="en-US" sz="1200" dirty="0"/>
          </a:p>
        </p:txBody>
      </p:sp>
      <p:sp>
        <p:nvSpPr>
          <p:cNvPr id="12" name="flows-text"/>
          <p:cNvSpPr/>
          <p:nvPr/>
        </p:nvSpPr>
        <p:spPr>
          <a:xfrm>
            <a:off x="6286500" y="311150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Electricity flows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coordination</a:t>
            </a:r>
            <a:endParaRPr lang="en-US" sz="1200" dirty="0"/>
          </a:p>
        </p:txBody>
      </p:sp>
      <p:sp>
        <p:nvSpPr>
          <p:cNvPr id="13" name="effect-text"/>
          <p:cNvSpPr/>
          <p:nvPr/>
        </p:nvSpPr>
        <p:spPr>
          <a:xfrm>
            <a:off x="9080500" y="311150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Cross-border effect</a:t>
            </a:r>
            <a:endParaRPr lang="en-US" sz="12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Propagation horizon</a:t>
            </a:r>
            <a:endParaRPr lang="en-US" sz="1200" dirty="0"/>
          </a:p>
        </p:txBody>
      </p:sp>
      <p:sp>
        <p:nvSpPr>
          <p:cNvPr id="14" name="arrow-one"/>
          <p:cNvSpPr/>
          <p:nvPr/>
        </p:nvSpPr>
        <p:spPr>
          <a:xfrm>
            <a:off x="2603500" y="3390900"/>
            <a:ext cx="698500" cy="9144"/>
          </a:xfrm>
          <a:prstGeom prst="line">
            <a:avLst/>
          </a:prstGeom>
          <a:ln w="254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5" name="arrow-two"/>
          <p:cNvSpPr/>
          <p:nvPr/>
        </p:nvSpPr>
        <p:spPr>
          <a:xfrm>
            <a:off x="5397500" y="3390900"/>
            <a:ext cx="698500" cy="9144"/>
          </a:xfrm>
          <a:prstGeom prst="line">
            <a:avLst/>
          </a:prstGeom>
          <a:ln w="254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6" name="arrow-three"/>
          <p:cNvSpPr/>
          <p:nvPr/>
        </p:nvSpPr>
        <p:spPr>
          <a:xfrm>
            <a:off x="8191500" y="3390900"/>
            <a:ext cx="698500" cy="9144"/>
          </a:xfrm>
          <a:prstGeom prst="line">
            <a:avLst/>
          </a:prstGeom>
          <a:ln w="254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7" name="vertical"/>
          <p:cNvSpPr/>
          <p:nvPr/>
        </p:nvSpPr>
        <p:spPr>
          <a:xfrm>
            <a:off x="11684000" y="2032000"/>
            <a:ext cx="9144" cy="40005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8" name="outlook-label"/>
          <p:cNvSpPr/>
          <p:nvPr/>
        </p:nvSpPr>
        <p:spPr>
          <a:xfrm>
            <a:off x="12192000" y="21336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OUTLOOK</a:t>
            </a:r>
            <a:endParaRPr lang="en-US" sz="1200" dirty="0"/>
          </a:p>
        </p:txBody>
      </p:sp>
      <p:sp>
        <p:nvSpPr>
          <p:cNvPr id="19" name="outlook"/>
          <p:cNvSpPr/>
          <p:nvPr/>
        </p:nvSpPr>
        <p:spPr>
          <a:xfrm>
            <a:off x="12192000" y="2730500"/>
            <a:ext cx="304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electricity code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and cascading-effect assessment for cross-border flows.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alt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Britain consultation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alt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wider downstream energy perimeter and baseline resilience requirements.</a:t>
            </a:r>
            <a:endParaRPr lang="en-US" sz="1200" dirty="0"/>
          </a:p>
        </p:txBody>
      </p:sp>
      <p:sp>
        <p:nvSpPr>
          <p:cNvPr id="20" name="decision"/>
          <p:cNvSpPr/>
          <p:nvPr/>
        </p:nvSpPr>
        <p:spPr>
          <a:xfrm>
            <a:off x="508000" y="6921500"/>
            <a:ext cx="1473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Committee focus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distinguish enacted sector rules from proposals and maintain a dependency-led monitoring lens.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8000" y="355600"/>
            <a:ext cx="149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Mitigation Strategies &amp; Security Framework</a:t>
            </a:r>
            <a:endParaRPr lang="en-US" sz="2800" dirty="0"/>
          </a:p>
        </p:txBody>
      </p:sp>
      <p:sp>
        <p:nvSpPr>
          <p:cNvPr id="3" name="motif"/>
          <p:cNvSpPr/>
          <p:nvPr/>
        </p:nvSpPr>
        <p:spPr>
          <a:xfrm>
            <a:off x="508000" y="10160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" name="subtitle"/>
          <p:cNvSpPr/>
          <p:nvPr/>
        </p:nvSpPr>
        <p:spPr>
          <a:xfrm>
            <a:off x="508000" y="14224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comparator themes and monitoring triggers - not an operator assurance assessment.</a:t>
            </a:r>
            <a:endParaRPr lang="en-US" sz="1800" dirty="0"/>
          </a:p>
        </p:txBody>
      </p:sp>
      <p:graphicFrame>
        <p:nvGraphicFramePr>
          <p:cNvPr id="8" name="road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286000"/>
          <a:ext cx="15240000" cy="3708400"/>
        </p:xfrm>
        <a:graphic>
          <a:graphicData uri="http://schemas.openxmlformats.org/drawingml/2006/table">
            <a:tbl>
              <a:tblPr/>
              <a:tblGrid>
                <a:gridCol w="4156364"/>
                <a:gridCol w="5541818"/>
                <a:gridCol w="5541818"/>
              </a:tblGrid>
              <a:tr h="5334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comparator theme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External monitoring trigger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Connected generation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Inverter communications, firmware updates, installers and maintenance systems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 guidance update or public connected-generation event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Remote operations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 asset visibility, access review and topology understanding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Authority alert on PLC, remote access or perimeter exposure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Shared dependencies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Supplier, service and process concentration pathways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provider incident or cross-operator dependency disclosure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horizon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EU electricity implementation and Great Britain regulatory change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2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Enacted rule, authority notice or formal consultation outcome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ottom-divider"/>
          <p:cNvSpPr/>
          <p:nvPr/>
        </p:nvSpPr>
        <p:spPr>
          <a:xfrm>
            <a:off x="508000" y="6667500"/>
            <a:ext cx="15240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outcome"/>
          <p:cNvSpPr/>
          <p:nvPr/>
        </p:nvSpPr>
        <p:spPr>
          <a:xfrm>
            <a:off x="508000" y="7112000"/>
            <a:ext cx="1473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outcome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maintain a current evidence ledger and escalate only on source-supported changes in sector exposure.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European Energy and Utilities Cyber Sectorial Analysis</dc:title>
  <dc:subject>European Energy and Utilities Cyber Sectorial Analysis</dc:subject>
  <dc:creator>Manus</dc:creator>
  <cp:lastModifiedBy>Manus</cp:lastModifiedBy>
  <cp:revision>1</cp:revision>
  <dcterms:created xsi:type="dcterms:W3CDTF">2026-10-11T17:16:21Z</dcterms:created>
  <dcterms:modified xsi:type="dcterms:W3CDTF">2026-10-11T17:16:21Z</dcterms:modified>
</cp:coreProperties>
</file>