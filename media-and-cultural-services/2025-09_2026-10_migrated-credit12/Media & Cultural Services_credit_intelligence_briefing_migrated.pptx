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 Executive intelligence" id="{06935025-f9fd-2d0b-28bb-a718149b9dce}">
          <p14:sldIdLst>
            <p14:sldId id="256"/>
            <p14:sldId id="257"/>
            <p14:sldId id="258"/>
          </p14:sldIdLst>
        </p14:section>
        <p14:section name="B Threat and exposure intelligence" id="{6051ed7e-cbdd-1ed0-84a5-3a34548a955e}">
          <p14:sldIdLst>
            <p14:sldId id="259"/>
            <p14:sldId id="260"/>
            <p14:sldId id="261"/>
            <p14:sldId id="262"/>
          </p14:sldIdLst>
        </p14:section>
        <p14:section name="C Resilience and financial implications" id="{1c32e0ad-40c2-bb30-9378-f6e79f590158}">
          <p14:sldIdLst>
            <p14:sldId id="263"/>
            <p14:sldId id="264"/>
            <p14:sldId id="265"/>
          </p14:sldIdLst>
        </p14:section>
        <p14:section name="D Credit process integration" id="{ab9d5762-09c4-e8b7-71db-1d4dff524a89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097280"/>
            <a:ext cx="112772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1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Sector Cyber Resilience &amp; Credit Intelligence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600200"/>
            <a:ext cx="11277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&amp; Cultural Services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7200" y="2606040"/>
            <a:ext cx="2743200" cy="0"/>
          </a:xfrm>
          <a:prstGeom prst="line">
            <a:avLst/>
          </a:prstGeom>
          <a:noFill/>
          <a:ln w="25400">
            <a:solidFill>
              <a:srgbClr val="00915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2880360"/>
            <a:ext cx="10058400" cy="321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Reporting period: 1 September 2025 - 15 October 2026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274568"/>
            <a:ext cx="10058400" cy="321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Geography: global, primary focus EU, EEA and UK; North American and other evidence comparative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668776"/>
            <a:ext cx="10058400" cy="321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1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Migrated edition - evidence as of 15 October 2026; no research update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4062984"/>
            <a:ext cx="10058400" cy="321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Classification: not specified in source edition (external public data only)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457192"/>
            <a:ext cx="10058400" cy="321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Version 1.0-M (migrated from the 15 October 2026 baseline) - Status: NEEDS_REVIEW, not a v4 edition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4851400"/>
            <a:ext cx="10058400" cy="321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Audience: Senior Credit Officers; inherent sector exposure, not a borrower assessment.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20040"/>
            <a:ext cx="112772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Sector Intelligence Cover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112772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1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</a:t>
            </a:r>
            <a:pPr indent="0" marL="0">
              <a:buNone/>
            </a:pPr>
            <a:r>
              <a:rPr lang="en-US" sz="1300" b="1" dirty="0">
                <a:solidFill>
                  <a:srgbClr val="0091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Sector Risk Snapshot</a:t>
            </a:r>
            <a:pPr indent="0" marL="0">
              <a:buNone/>
            </a:pPr>
            <a:r>
              <a:rPr lang="en-US" sz="13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A Executive intelligence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66928"/>
            <a:ext cx="11277295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Cyber/ICT and operational-resilience exposure is provisionally High, driven by shared platforms and live-output integrity; fraud and governance are not assessable from the source edition.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531620"/>
            <a:ext cx="112772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6014720"/>
            <a:ext cx="112772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6069584"/>
            <a:ext cx="11277295" cy="22529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Limitation: </a:t>
            </a:r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Provisional: no approved rubric and no 24-sector calibration; ratings are migrated analytical judgements with confidence capped at Medium, not borrower assessments.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6294882"/>
            <a:ext cx="11277295" cy="36195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S-001, S-003, S-008, S-014, S-030, S-031, S-034, S-037, S-038, S-039, S-068 (Tier 1); S-042 (Tier 2); S-010 (Tier 3) - Period: Oct 2023 (historical) - Oct 2026 - Cut-off 15 Oct 2026 - v1.0-M Migrated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1348"/>
          <a:ext cx="11277295" cy="914400"/>
        </p:xfrm>
        <a:graphic>
          <a:graphicData uri="http://schemas.openxmlformats.org/drawingml/2006/table">
            <a:tbl>
              <a:tblPr/>
              <a:tblGrid>
                <a:gridCol w="2040653"/>
                <a:gridCol w="1449938"/>
                <a:gridCol w="1718445"/>
                <a:gridCol w="1127730"/>
                <a:gridCol w="4940529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Dimension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Rating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Confidence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Justification from source edition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Fraud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assessable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covered in source edition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Only a judgement that phishing and payment diversion can follow ticketing data exposure; no fraud research (Q10).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Cyber / ICT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Provisional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 drew 14.2% of mitigated HTTP DDoS requests on one network in H1 2026; regulator-recorded live-output hijacks; state museum network attack.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Operational Resilience / TPRM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Provisional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Single points in cloud (14.5-hour AWS event), CDN and shared ticketing; British Library catalogue restored after about 26 months.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Governance / Operating Model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assessable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covered in source edition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Fragments only (an audit recommending a Louvre information systems directorate); no governance research (Q13).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457200" y="3839337"/>
            <a:ext cx="3576218" cy="127177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91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Evidence: </a:t>
            </a:r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messages: (1) disruption runs through shared ticketing, payment, CDN and cloud platforms; (2) live-output integrity is under-secured in US and Pakistani evidence; (3) losses arrive through revenue lines, lender waivers and multi-year recovery.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4307738" y="3839337"/>
            <a:ext cx="3576218" cy="127177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91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Significance: </a:t>
            </a:r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 direction: not assessable - baseline edition, no trend series. DDoS and information-manipulation pressure is high but rarely produces disclosed losses.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8158277" y="3839337"/>
            <a:ext cx="3576218" cy="127177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91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Credit Lens: </a:t>
            </a:r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Leveraged media borrowers may need waivers after a multi-month disruption, as Lee did (USD 11.3 million added debt); ticketing-dependent clients can lose online sales for days to weeks.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112772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1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</a:t>
            </a:r>
            <a:pPr indent="0" marL="0">
              <a:buNone/>
            </a:pPr>
            <a:r>
              <a:rPr lang="en-US" sz="1300" b="1" dirty="0">
                <a:solidFill>
                  <a:srgbClr val="0091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Sector Anatomy: Key Operations &amp; Dependencies</a:t>
            </a:r>
            <a:pPr indent="0" marL="0">
              <a:buNone/>
            </a:pPr>
            <a:r>
              <a:rPr lang="en-US" sz="13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A Executive intelligence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66928"/>
            <a:ext cx="11277295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Sector operations depend on a few shared digital layers - ticketing and payment, cloud regions, content delivery, and content-insertion and satellite paths - where one failure reaches many organisations.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531620"/>
            <a:ext cx="112772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6006973"/>
            <a:ext cx="112772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6061837"/>
            <a:ext cx="11277295" cy="3957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Limitation: </a:t>
            </a:r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shares of ticketing, playout and collection-management providers are not public, so no provider is described as dominant. Not covered in source edition: operating-model and governance complexity (Q13).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6457569"/>
            <a:ext cx="11277295" cy="199263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S-001, S-007, S-008, S-014, S-018, S-038, S-039, S-045, S-046 (Tier 1) - Period: Oct 2025 - Mar 2026; footprint 2024-2025 - Cut-off 15 Oct 2026 - v1.0-M Migrated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434840" y="1641348"/>
          <a:ext cx="7299655" cy="914400"/>
        </p:xfrm>
        <a:graphic>
          <a:graphicData uri="http://schemas.openxmlformats.org/drawingml/2006/table">
            <a:tbl>
              <a:tblPr/>
              <a:tblGrid>
                <a:gridCol w="1824914"/>
                <a:gridCol w="1913934"/>
                <a:gridCol w="1824914"/>
                <a:gridCol w="173589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Subsector and process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Key dependency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Single point or bottleneck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Substitute or fallback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Museums, monuments, libraries: visitor sales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Shared ticketing platform (Vivaticket for the national monuments network)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provider hosts sales and data for many institutions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Alternative ticket offices and on-site sales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Streaming, online games, publishers: delivery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Hyperscale cloud region (AWS US-EAST-1)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region failure affects many dependent services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Multi-provider delivery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News sites, streaming, ticketing: web delivery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Content delivery network (Cloudflare)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configuration error caused global errors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Multi-provider delivery; pre-recorded fallback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Broadcasters: live output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Content-insertion equipment and satellite uplinks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Remote access or uplink path inserts content into live output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evidenced at Tier 1 or 2 in source edition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457200" y="1641348"/>
            <a:ext cx="3703320" cy="127177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91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Evidence: </a:t>
            </a:r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Footprint: 8.9 million people in EU cultural employment in 2025 (4.3% of jobs); UK creative industries GBP 145.8 billion GVA in 2024 (5.5% of UK GVA). Eleven subsectors are covered, from broadcasters to museums and media technology providers.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195699"/>
            <a:ext cx="5501488" cy="8844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91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Significance: </a:t>
            </a:r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Front-of-house revenue channels - ticketing, shop, card payment - run on the same corporate IT and shared platforms that attacks and outages reach; at Dresden the security system stayed operational while these channels recovered last.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6233008" y="4195699"/>
            <a:ext cx="5501488" cy="8844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91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Credit Lens: </a:t>
            </a:r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which ticketing, payment, cloud and delivery providers a borrower shares with peers, and whether it can sell and deliver without them for a week.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112772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1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</a:t>
            </a:r>
            <a:pPr indent="0" marL="0">
              <a:buNone/>
            </a:pPr>
            <a:r>
              <a:rPr lang="en-US" sz="1300" b="1" dirty="0">
                <a:solidFill>
                  <a:srgbClr val="0091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Cyber Threat Landscape &amp; Attack Scenarios</a:t>
            </a:r>
            <a:pPr indent="0" marL="0">
              <a:buNone/>
            </a:pPr>
            <a:r>
              <a:rPr lang="en-US" sz="13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B Threat and exposure intelligence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66928"/>
            <a:ext cx="1127729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platforms and live-output compromise carry the highest operational impact; DDoS and information manipulation are frequent but rarely produce disclosed losses.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252728"/>
            <a:ext cx="112772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5844286"/>
            <a:ext cx="112772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5899150"/>
            <a:ext cx="11277295" cy="3957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Limitation: </a:t>
            </a:r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 levels are migrated judgements from the source edition's sector-relevance ratings, not measured outcomes. Not covered in source edition: developments after the 15 October 2026 cut-off.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6294882"/>
            <a:ext cx="11277295" cy="36195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S-001, S-008, S-014, S-018, S-030, S-034, S-038, S-039, S-043, S-086, S-087 (Tier 1); S-042 (Tier 2); S-009, S-010 (Tier 3) - Period: Oct 2023 (historical); Nov 2025 - Oct 2026 - Cut-off 15 Oct 2026 - v1.0-M Migrated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434840" y="1362456"/>
          <a:ext cx="7299655" cy="914400"/>
        </p:xfrm>
        <a:graphic>
          <a:graphicData uri="http://schemas.openxmlformats.org/drawingml/2006/table">
            <a:tbl>
              <a:tblPr/>
              <a:tblGrid>
                <a:gridCol w="534121"/>
                <a:gridCol w="2448055"/>
                <a:gridCol w="3026686"/>
                <a:gridCol w="1290793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Rank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Pathway (pattern, not an attack)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Observed evidence in source edition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Impact level (migrated judgement)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 Shared front-of-house platforms and SaaS integrations (supply-chain concentration)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Ticketing provider ransomware, March 2026 (Tier 3 detail); cloud and CDN outages, October-November 2025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P3 Broadcast signal and content-insertion compromise (targeted disruption)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Regulator-recorded stream hijacks from November 2025; Pakistani satellite feeds, March 2026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 Ransomware and extortion against institutions and publishers (targeted disruption)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Dresden 2026; Lee 2025 and British Library 2023 (historical)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P4 Hacktivist DDoS and information manipulation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14.2% of mitigated HTTP DDoS requests in H1 2026; 540 FIMI incidents in 2025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P6 Personal data exposure and litigation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Live-events group breach notice and class action, October 2026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457200" y="1362456"/>
            <a:ext cx="3703320" cy="127177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91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Evidence: </a:t>
            </a:r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12 months: five named incidents from November 2025 to October 2026. Last 30 days before cut-off: live-events group breach notice (1 October 2026) and class action (7 October 2026). Content theft (P5) rests on one court case and ranks below the five.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720971"/>
            <a:ext cx="5501488" cy="690753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91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Significance: </a:t>
            </a:r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Hijacked live output and shared-platform outages reach audiences and customers within hours; ransomware against legacy estates sets the longest recovery tails.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6233008" y="4720971"/>
            <a:ext cx="5501488" cy="690753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91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Credit Lens: </a:t>
            </a:r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 borrower discussions toward shared suppliers and live-output equipment, not only the borrower's own network.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112772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1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</a:t>
            </a:r>
            <a:pPr indent="0" marL="0">
              <a:buNone/>
            </a:pPr>
            <a:r>
              <a:rPr lang="en-US" sz="1300" b="1" dirty="0">
                <a:solidFill>
                  <a:srgbClr val="0091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Geopolitical Cyber Threat Outlook</a:t>
            </a:r>
            <a:pPr indent="0" marL="0">
              <a:buNone/>
            </a:pPr>
            <a:r>
              <a:rPr lang="en-US" sz="13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B Threat and exposure intelligence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66928"/>
            <a:ext cx="11277295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Conflicts, elections and major live events drive DDoS and information-manipulation pressure on media, but the source edition holds no confirmed state attribution for a sector incident.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531620"/>
            <a:ext cx="112772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6006973"/>
            <a:ext cx="112772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6061837"/>
            <a:ext cx="11277295" cy="3957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Limitation: </a:t>
            </a:r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covered in source edition: dedicated geopolitical analysis (Q07), exposed-region mapping and state-linked espionage against media; only fragments exist. Benchmarks measure targeting, not impact.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6457569"/>
            <a:ext cx="11277295" cy="199263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S-018, S-041, S-043, S-047, S-051, S-059, S-075 (Tier 1); S-042 (Tier 2) - Period: 2025 - Oct 2026 - Cut-off 15 Oct 2026 - v1.0-M Migrated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434840" y="1641348"/>
          <a:ext cx="7299655" cy="914400"/>
        </p:xfrm>
        <a:graphic>
          <a:graphicData uri="http://schemas.openxmlformats.org/drawingml/2006/table">
            <a:tbl>
              <a:tblPr/>
              <a:tblGrid>
                <a:gridCol w="2047464"/>
                <a:gridCol w="3694338"/>
                <a:gridCol w="1557853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Geopolitical-to-cyber pathway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Source-edition evidence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Attribution status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Conflict coverage -&gt; DDoS against media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Cloudflare links media's 14.2% DDoS share in H1 2026 to coverage of the wars in Iran and Ukraine and to the World Cup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Provider interpretation; no actor named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Hacktivist DDoS networks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NoName057(16) made 35.8% of ideology-driven claims in ENISA's business-services group (2025); Europol disrupted its infrastructure in July 2025; Germany issued six arrest warrants against suspects in Russia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Law-enforcement action; group claims stay claims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Information manipulation against media brands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EEAS: 540 FIMI incidents in 2025; impersonation of established outlets and fabricated media brands; 2026 elections listed as at risk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Institutional reporting; not reproduced per incident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Satellite broadcast hijack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Pakistani news channels' satellite feeds hijacked on 1 March 2026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attribution published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457200" y="1641348"/>
            <a:ext cx="3703320" cy="1078103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91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Evidence: </a:t>
            </a:r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 responses: European Democracy Shield (Commission Communication, 12 November 2025); European Media Freedom Act source protection from 8 August 2025; UK foreign interference offences in force since 20 December 2023.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552061"/>
            <a:ext cx="5501488" cy="690753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91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Significance: </a:t>
            </a:r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 impersonation and availability attacks matter most around elections, conflicts and major live events, when audiences, advertisers and rights holders concentrate.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6233008" y="4552061"/>
            <a:ext cx="5501488" cy="690753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91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Credit Lens: </a:t>
            </a:r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media borrowers how they detect impersonation of their brands and prepare for event-period DDoS; treat state-linked activity as a monitoring trigger rather than a rating driver.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112772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1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</a:t>
            </a:r>
            <a:pPr indent="0" marL="0">
              <a:buNone/>
            </a:pPr>
            <a:r>
              <a:rPr lang="en-US" sz="1300" b="1" dirty="0">
                <a:solidFill>
                  <a:srgbClr val="0091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Major Cyber Incidents &amp; Lessons Learned</a:t>
            </a:r>
            <a:pPr indent="0" marL="0">
              <a:buNone/>
            </a:pPr>
            <a:r>
              <a:rPr lang="en-US" sz="13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B Threat and exposure intelligence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66928"/>
            <a:ext cx="1127729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named incidents meet the evidence standard but only one is in the EU; the Dresden case shows revenue channels failing first and recovering last.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252728"/>
            <a:ext cx="112772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5844286"/>
            <a:ext cx="112772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5899150"/>
            <a:ext cx="11277295" cy="3957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Limitation: </a:t>
            </a:r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covered in source edition: the second and third detailed case studies and incidents after 15 October 2026. Case study 1 does not establish cost, data loss, attacker or access vector.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6294882"/>
            <a:ext cx="11277295" cy="36195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S-001, S-002, S-003, S-004, S-014, S-015, S-018, S-086, S-087 (Tier 1); S-006, S-013, S-017, S-019, S-074 (Tier 3) - Period: Nov 2025 - Oct 2026 - Cut-off 15 Oct 2026 - v1.0-M Migrated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62456"/>
          <a:ext cx="11277295" cy="914400"/>
        </p:xfrm>
        <a:graphic>
          <a:graphicData uri="http://schemas.openxmlformats.org/drawingml/2006/table">
            <a:tbl>
              <a:tblPr/>
              <a:tblGrid>
                <a:gridCol w="2819324"/>
                <a:gridCol w="2681796"/>
                <a:gridCol w="2406740"/>
                <a:gridCol w="1856628"/>
                <a:gridCol w="151280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Organisation and period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Vector or documented weakness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Disruption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Financial consequence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Lesson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Dresden State Art Collections, Jan 2026 (case study 1)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disclosed; activity over several days before containment (media-relayed ministerial answer)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Shop, visitor services and card payment lost; website back after 5 days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disclosed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Sales recover last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US radio stations, Nov 2025 onward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Improperly secured, remotely accessible streaming and alerting equipment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Live output replaced with unauthorised audio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disclosed; FCC rule June 2026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Harden insertion devices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Pakistani news channels, Mar 2026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Satellite feed; possible uplink path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Unauthorised content aired at the 9 pm bulletin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disclosed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Signal path is exposed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Spotify and labels, Dec 2025 - Apr 2026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Account-based scraping; circumvention of protection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Catalogue copying alleged at scale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Reported USD 322 million award (media-reported); collection doubtful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Remedies may not recover value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Live Nation, Oct 2026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Identity and health data exposure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operational impact (company statement, media-reported)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 action within a week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Notice turns into litigation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457200" y="4364609"/>
            <a:ext cx="3576218" cy="1078103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91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Evidence: </a:t>
            </a:r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Selection: in-period event or outcome, Tier 1 or 2 support, in-scope subsector, distinct lesson. The March 2026 shared ticketing ransomware is excluded because its detail rests on Tier 3 relays.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4307738" y="4364609"/>
            <a:ext cx="3576218" cy="1078103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91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Significance: </a:t>
            </a:r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Disclosure is asymmetric: public cultural bodies publish chronologies but rarely costs; listed groups disclose costs; platforms surface through litigation.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8158277" y="4364609"/>
            <a:ext cx="3576218" cy="1078103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91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Credit Lens: </a:t>
            </a:r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Treat card-payment and online-sales loss at public cultural counterparties as a foreseeable multi-week event, and ask how merchant and donor flows continue.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112772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1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</a:t>
            </a:r>
            <a:pPr indent="0" marL="0">
              <a:buNone/>
            </a:pPr>
            <a:r>
              <a:rPr lang="en-US" sz="1300" b="1" dirty="0">
                <a:solidFill>
                  <a:srgbClr val="0091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 Weaknesses &amp; Resilience Priorities</a:t>
            </a:r>
            <a:pPr indent="0" marL="0">
              <a:buNone/>
            </a:pPr>
            <a:r>
              <a:rPr lang="en-US" sz="13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B Threat and exposure intelligence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66928"/>
            <a:ext cx="11277295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resilience priorities follow from observed attacks; hardening live-output equipment, fallback for shared suppliers and segregation of transactional systems address the highest-impact pathways.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531620"/>
            <a:ext cx="112772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6014720"/>
            <a:ext cx="112772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6069584"/>
            <a:ext cx="11277295" cy="22529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Limitation: </a:t>
            </a:r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Priorities are sector-informed, not findings about any borrower's controls; confidence is taken from the linked source-edition judgement.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6294882"/>
            <a:ext cx="11277295" cy="36195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S-001, S-003, S-008, S-014, S-018, S-034, S-038, S-039, S-043, S-044, S-053, S-071, S-086 (Tier 1); S-009 (Tier 3) - Period: Apr 2018 (standard) - Oct 2026 - Cut-off 15 Oct 2026 - v1.0-M Migrated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1348"/>
          <a:ext cx="11277295" cy="914400"/>
        </p:xfrm>
        <a:graphic>
          <a:graphicData uri="http://schemas.openxmlformats.org/drawingml/2006/table">
            <a:tbl>
              <a:tblPr/>
              <a:tblGrid>
                <a:gridCol w="3143973"/>
                <a:gridCol w="2597195"/>
                <a:gridCol w="3075626"/>
                <a:gridCol w="1298598"/>
                <a:gridCol w="1161903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Weakness observed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Linked evidence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Capability that contains disruption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Confidence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A1 Single points in ticketing, payment, CDN and cloud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Ticketing outage 2026 (Tier 3); 2025 cloud and CDN outages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Tested fallback sales and delivery channels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0-6 months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A2 Default passwords and remote access on insertion and alerting devices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Regulator-recorded hijacks; satellite hijacks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Password, patching and segmentation baseline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0-6 months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A3 Corporate IT shared with ticketing, shop, newsroom and playout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Dresden 2026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Segregation and tested restoration of transactional channels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3-12 months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A4 Exposed ticket-holder, subscriber and donor data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Ticketing exposure (Tier 3); live-events notice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Fraud typology monitoring; out-of-band payment verification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0-3 months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A5 Spoofed outlets and synthetic media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EEAS impersonation findings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Provenance and labelling procedures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6-12 months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A6 Legacy estates and thin insurance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British Library; 35% of UK charities insured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Recovery objectives, insurance and waiver triggers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6-12 months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457200" y="4556760"/>
            <a:ext cx="3576218" cy="1078103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91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Evidence: </a:t>
            </a:r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Frameworks named in the source edition - NIST CSF 2.0, ISO/IEC 27001 and 27036, EBU R 148, C2PA, PCI DSS v4.0.1 - are reference vocabularies, not law; EBU R 148 dates from April 2018.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4307738" y="4556760"/>
            <a:ext cx="3576218" cy="1078103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91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Significance: </a:t>
            </a:r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two quantified cases, revenue effects came from production and distribution outages rather than data theft, so continuity capabilities carry the cash-flow weight.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8158277" y="4556760"/>
            <a:ext cx="3576218" cy="1078103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91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Credit Lens: </a:t>
            </a:r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for completion evidence - dependency maps, baseline attestations, restoration tests - rather than policy statements; only the US alerting order sets a mandatory equipment baseline.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112772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1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</a:t>
            </a:r>
            <a:pPr indent="0" marL="0">
              <a:buNone/>
            </a:pPr>
            <a:r>
              <a:rPr lang="en-US" sz="1300" b="1" dirty="0">
                <a:solidFill>
                  <a:srgbClr val="0091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Regulatory &amp; Supervisory Resilience Expectations</a:t>
            </a:r>
            <a:pPr indent="0" marL="0">
              <a:buNone/>
            </a:pPr>
            <a:r>
              <a:rPr lang="en-US" sz="13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C Resilience and financial implications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66928"/>
            <a:ext cx="1127729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and UK horizontal cyber law does not name media or culture; obligations arrive through providers, products, media and data rules, and US disclosure and broadcast rules.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252728"/>
            <a:ext cx="112772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5844286"/>
            <a:ext cx="112772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5899150"/>
            <a:ext cx="11277295" cy="3957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Limitation: </a:t>
            </a:r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items: Digital Omnibus effect on Article 50, AVMSD text, national Article 85 laws, UK telecoms security scope for broadcast transmission. Not covered in source edition: supervisory priorities, sanction consequences, US state breach and video privacy rules.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6294882"/>
            <a:ext cx="11277295" cy="36195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S-014, S-048, S-049, S-050, S-051, S-052, S-053, S-055, S-060, S-061, S-063, S-064, S-065, S-066, S-069, S-070, S-075, S-076, S-081 (Tier 1); S-072, S-083 (Tier 3) - Period: Legal milestones 2016-2027 - Cut-off 15 Oct 2026 - v1.0-M Migrated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62456"/>
          <a:ext cx="11277295" cy="914400"/>
        </p:xfrm>
        <a:graphic>
          <a:graphicData uri="http://schemas.openxmlformats.org/drawingml/2006/table">
            <a:tbl>
              <a:tblPr/>
              <a:tblGrid>
                <a:gridCol w="2131684"/>
                <a:gridCol w="3369436"/>
                <a:gridCol w="3231908"/>
                <a:gridCol w="254426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Theme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EU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UK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 (comparative)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Horizontal cyber law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NIS2 (binding via national law): media not listed; reached through CDN, cloud and managed service providers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NIS Regulations 2018 in force, media outside scope; Cyber Security and Resilience Bill at Lords report stage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CIRCIA final rule status unconfirmed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Products and equipment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Cyber Resilience Act reporting from 11 September 2026; main obligations 11 December 2027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Connectable product security regime since 29 April 2024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FCC alerting order adopted June 2026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 and information integrity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 Freedom Act from 8 August 2025; AI Act Article 50 from 2 August 2026; political advertising rules from 10 October 2025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 Act 2024 (no cyber duties in text read); foreign interference offences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covered in source edition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and disclosure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GDPR breach notification within 72 hours; Article 85 national derogations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Special purposes exemption does not list security or regulator notification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 8-K Item 1.05 within four business days; COPPA amendments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Designated entities and ransomware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 Directive: media and culture not among eleven sectors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Ransomware payment ban: proposal only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covered in source edition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457200" y="4364609"/>
            <a:ext cx="3576218" cy="8844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91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Evidence: </a:t>
            </a:r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from primary instruments or official pages in the source edition; Australia's infrastructure security law alone names broadcasting assets.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4307738" y="4364609"/>
            <a:ext cx="3576218" cy="8844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91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Significance: </a:t>
            </a:r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In-period movement came from AI transparency, product reporting and a US broadcast rule; the UK bill is not yet law.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8158277" y="4364609"/>
            <a:ext cx="3576218" cy="8844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91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Credit Lens: </a:t>
            </a:r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whether key suppliers are regulated as managed service, cloud or delivery providers, and how AI Act transparency duties are met.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112772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1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</a:t>
            </a:r>
            <a:pPr indent="0" marL="0">
              <a:buNone/>
            </a:pPr>
            <a:r>
              <a:rPr lang="en-US" sz="1300" b="1" dirty="0">
                <a:solidFill>
                  <a:srgbClr val="0091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Impact of Cyber Incidents</a:t>
            </a:r>
            <a:pPr indent="0" marL="0">
              <a:buNone/>
            </a:pPr>
            <a:r>
              <a:rPr lang="en-US" sz="13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C Resilience and financial implications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66928"/>
            <a:ext cx="1127729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loss evidence is sparse and not additive; quantified effects come through curtailed revenue lines, debt added through waivers and multi-year recovery.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252728"/>
            <a:ext cx="112772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6006973"/>
            <a:ext cx="112772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6061837"/>
            <a:ext cx="11277295" cy="3957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Limitation: </a:t>
            </a:r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Values differ in currency, statistic type and population and are never summed; both quantified attacks predate the period. Not covered in source edition: five-year cost trend and sector business-interruption benchmarks.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6457569"/>
            <a:ext cx="11277295" cy="199263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S-001, S-003, S-030, S-031, S-032, S-033, S-034 (Tier 1) - Period: Attacks Oct 2023 - Jan 2026; disclosures May 2025 - Jul 2026 - Cut-off 15 Oct 2026 - v1.0-M Migrated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434840" y="1362456"/>
          <a:ext cx="7299655" cy="914400"/>
        </p:xfrm>
        <a:graphic>
          <a:graphicData uri="http://schemas.openxmlformats.org/drawingml/2006/table">
            <a:tbl>
              <a:tblPr/>
              <a:tblGrid>
                <a:gridCol w="1869424"/>
                <a:gridCol w="2893156"/>
                <a:gridCol w="1335303"/>
                <a:gridCol w="1201773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Period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Lee Enterprises (US newspaper group)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Loss of cash flows attributed to the February 2025 attack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USD 10.5 million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 to 28 Sep 2025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Lee Enterprises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Restoration cost expensed (subset of the loss)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USD 3.7 million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 to 28 Sep 2025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Lee Enterprises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Insurance claims filed (claim, not recovery)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USD 6.8 million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 to 28 Sep 2025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Lee Enterprises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Debt added through waivers (not additive)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USD 11.3 million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 28 Sep 2025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KADOKAWA (Japanese publisher and platform group)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Sales effect, company estimate (June 2024 attack)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JPY 8.3 billion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 to 31 Mar 2025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British Library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KPIs within 10% of target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72.8% vs 81.8%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2025/26 vs 2024/25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Dresden State Art Collections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Cost, data and insurance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disclosed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457200" y="1362456"/>
            <a:ext cx="3703320" cy="8844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91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Evidence: </a:t>
            </a:r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EU or UK entity disclosed a quantified cyber cost for an in-period incident. Ransom payments are rarely disclosed, so their role cannot be assessed.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725670"/>
            <a:ext cx="5501488" cy="690753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91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Significance: </a:t>
            </a:r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Recovery tails run from days (Dresden website) to more than two years (British Library catalogue); revenue dips followed production and distribution outages in both quantified cases.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6233008" y="4725670"/>
            <a:ext cx="5501488" cy="690753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91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Credit Lens: </a:t>
            </a:r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for unscheduled waiver or amendment requests, merchant-volume drops and fraud alerts at media and cultural counterparties after a sector incident.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112772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1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</a:t>
            </a:r>
            <a:pPr indent="0" marL="0">
              <a:buNone/>
            </a:pPr>
            <a:r>
              <a:rPr lang="en-US" sz="1300" b="1" dirty="0">
                <a:solidFill>
                  <a:srgbClr val="0091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Cyber-to-Credit Risk Transmission &amp; Stress Scenarios</a:t>
            </a:r>
            <a:pPr indent="0" marL="0">
              <a:buNone/>
            </a:pPr>
            <a:r>
              <a:rPr lang="en-US" sz="13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C Resilience and financial implications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66928"/>
            <a:ext cx="11277295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Illustrative, not a forecast or loss estimate: 1 week hits live revenue, 4 weeks of supplier outage hit ticketing cash flow, 8 weeks of targeted disruption reach margins and debt service.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531620"/>
            <a:ext cx="112772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6177407"/>
            <a:ext cx="112772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6232271"/>
            <a:ext cx="11277295" cy="22529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Limitation: </a:t>
            </a:r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only: no probabilities, no numerical loss per band; durations come from single cases and several rest on Tier 3 reporting.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6457569"/>
            <a:ext cx="11277295" cy="199263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S-001, S-003, S-008, S-023, S-030, S-031, S-032, S-034, S-038, S-039 (Tier 1); S-005, S-009, S-010 (Tier 3) - Period: Oct 2023 - Mar 2026 - Cut-off 15 Oct 2026 - v1.0-M Migrated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1348"/>
          <a:ext cx="11277295" cy="914400"/>
        </p:xfrm>
        <a:graphic>
          <a:graphicData uri="http://schemas.openxmlformats.org/drawingml/2006/table">
            <a:tbl>
              <a:tblPr/>
              <a:tblGrid>
                <a:gridCol w="1100224"/>
                <a:gridCol w="2337976"/>
                <a:gridCol w="3369436"/>
                <a:gridCol w="2200448"/>
                <a:gridCol w="22692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Mechanism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Duration evidence in source edition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Operational effect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Credit channel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week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Common digital-dependency failure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AWS event about 14.5 hours; Cloudflare outage about 6 hours; Dresden website back after 5 days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Live streams, games, ticket sales and news publication stop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Lost live audience and advertising, make-goods, refunds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weeks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Third- or fourth-party supply-chain concentration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Monuments network reopened online sales after 10 days and the national library was still unable on 19 March; Dresden online booking within about a month (all Tier 3)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Online ticketing and payments lost across many institutions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Correlated ticketing cash-flow loss; phishing and payment fraud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weeks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Targeted operational disruption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Lee print advertising capacity limited for several months; British Library catalogue about 26 months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Output loss, rebuild, regulatory scrutiny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Margin pressure, waivers, covenant pressure, public-funding draw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457200" y="3926078"/>
            <a:ext cx="3576218" cy="127177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91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Evidence: </a:t>
            </a:r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Transmission: disruption -&gt; lost output, publication or sales -&gt; advertising, subscription and ticketing cash flow -&gt; temporary liquidity disruption (Lee) -&gt; waivers and debt service (USD 11.3 million added debt at Lee) -&gt; insurance recovery that lags costs.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4307738" y="3926078"/>
            <a:ext cx="3576218" cy="127177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91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Significance: </a:t>
            </a:r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Duration, not data loss, drives the cash-flow effect; correlated outages across many borrowers can coincide with high-value live events. Offsets: multi-provider delivery, alternative sales channels, segregation and manual fallback.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8158277" y="3926078"/>
            <a:ext cx="3576218" cy="127177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91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Credit Lens: </a:t>
            </a:r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Borrower data needed: reliance on online and live-event revenue, shared suppliers, recovery time objectives, insurance cover and waiver triggers.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112772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1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 </a:t>
            </a:r>
            <a:pPr indent="0" marL="0">
              <a:buNone/>
            </a:pPr>
            <a:r>
              <a:rPr lang="en-US" sz="1300" b="1" dirty="0">
                <a:solidFill>
                  <a:srgbClr val="0091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Questionnaire-to-Sector Intelligence Mapping</a:t>
            </a:r>
            <a:pPr indent="0" marL="0">
              <a:buNone/>
            </a:pPr>
            <a:r>
              <a:rPr lang="en-US" sz="13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D Credit process integration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66928"/>
            <a:ext cx="1127729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Provisional map: six generic discussion items link sector threats and incident evidence to credit consequences; no questionnaire was supplied, so no real item IDs are used.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252728"/>
            <a:ext cx="112772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6014720"/>
            <a:ext cx="112772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6069584"/>
            <a:ext cx="11277295" cy="22529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Limitation: </a:t>
            </a:r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Provisional: no questionnaire supplied; replace PROV- IDs with actual item IDs once an approved item list is provided.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6294882"/>
            <a:ext cx="11277295" cy="36195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S-001, S-008, S-014, S-018, S-030, S-034, S-038, S-039, S-043, S-086 (Tier 1); S-009 (Tier 3) - Period: Oct 2023 (historical); Oct 2025 - Oct 2026 - Cut-off 15 Oct 2026 - v1.0-M Migrated</a:t>
            </a:r>
            <a:endParaRPr lang="en-US" sz="10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62456"/>
          <a:ext cx="11277295" cy="914400"/>
        </p:xfrm>
        <a:graphic>
          <a:graphicData uri="http://schemas.openxmlformats.org/drawingml/2006/table">
            <a:tbl>
              <a:tblPr/>
              <a:tblGrid>
                <a:gridCol w="2269212"/>
                <a:gridCol w="2819324"/>
                <a:gridCol w="2819324"/>
                <a:gridCol w="336943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 and item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Threat -&gt; incident evidence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Operational -&gt; credit consequence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Suggested question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PROV-01 Shared suppliers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P2 -&gt; ticketing outage 2026 (Tier 3); 2025 cloud and CDN outages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Sales and delivery stop -&gt; correlated revenue loss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Which ticketing, payment, cloud and delivery providers do you share with peers?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PROV-02 Live-output equipment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P3 -&gt; regulator-recorded and satellite hijacks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Hijacked output -&gt; regulatory scrutiny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 insertion and alerting devices meet a password, patch and segmentation baseline?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PROV-03 Segregation and recovery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P1 -&gt; Dresden 2026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Shop and card payment down -&gt; weeks of lost online sales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 security, building and playout systems separate from corporate IT?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PROV-04 Customer data and fraud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P6 -&gt; live-events notice; ticketing exposure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Notification -&gt; litigation and fraud losses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are ticket-holder and subscriber data exposures monitored?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PROV-05 Brand provenance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P4 -&gt; EEAS impersonation findings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Impersonation -&gt; brand integrity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do you detect impersonation and meet AI Act transparency duties?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PROV-06 Recovery and funding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P1 -&gt; Lee; British Library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Long recovery -&gt; waivers, funding draw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recovery time, insurance and waiver triggers apply?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457200" y="4456049"/>
            <a:ext cx="3576218" cy="8844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91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Evidence: </a:t>
            </a:r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Derived from the source edition's actions A1-A6 and pathways P1-P6; no borrower answers are ingested.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4307738" y="4456049"/>
            <a:ext cx="3576218" cy="8844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91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Significance: </a:t>
            </a:r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Borrower factors that change materiality: multi-provider delivery, alternative sales channels, segregated playout, manual fallback, insurance cover and public-funding support.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8158277" y="4456049"/>
            <a:ext cx="3576218" cy="8844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91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Credit Lens: </a:t>
            </a:r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answers as discussion input only; self-reported answers are not confirmed evidence and trigger no automatic adverse judgement.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112772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91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 </a:t>
            </a:r>
            <a:pPr indent="0" marL="0">
              <a:buNone/>
            </a:pPr>
            <a:r>
              <a:rPr lang="en-US" sz="1300" b="1" dirty="0">
                <a:solidFill>
                  <a:srgbClr val="0091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Credit Officer Engagement: Key Questions &amp; Actions</a:t>
            </a:r>
            <a:pPr indent="0" marL="0">
              <a:buNone/>
            </a:pPr>
            <a:r>
              <a:rPr lang="en-US" sz="13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D Credit process integration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66928"/>
            <a:ext cx="11277295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client discussion topics, each with an early-warning indicator, let credit officers test continuity of sales, output and debt service without assessing borrower controls.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252728"/>
            <a:ext cx="112772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6177407"/>
            <a:ext cx="112772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6232271"/>
            <a:ext cx="11277295" cy="22529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Limitation: </a:t>
            </a:r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address inherent sector exposure; answers are self-reported and are not an audit, compliance or creditworthiness finding.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6457569"/>
            <a:ext cx="11277295" cy="199263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S-008, S-014, S-030, S-031, S-043, S-053, S-086 (Tier 1); S-009 (Tier 3) - Period: Oct 2025 - Oct 2026 - Cut-off 15 Oct 2026 - v1.0-M Migrated</a:t>
            </a:r>
            <a:endParaRPr lang="en-US" sz="10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62456"/>
          <a:ext cx="11277295" cy="914400"/>
        </p:xfrm>
        <a:graphic>
          <a:graphicData uri="http://schemas.openxmlformats.org/drawingml/2006/table">
            <a:tbl>
              <a:tblPr/>
              <a:tblGrid>
                <a:gridCol w="2406740"/>
                <a:gridCol w="5432356"/>
                <a:gridCol w="3438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Topic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Question for the client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Early-warning indicator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Shared suppliers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Which providers could stop your sales or delivery for a week, and what is your fallback?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Provider outage or breach notice; prosecutor statement naming a supplier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Live-output integrity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 content-insertion and alerting devices meet a baseline comparable to the June 2026 FCC rule?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Regulator device warning; hijack report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Online sales loss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would a ten-day loss of online ticketing show up in your sales and fraud alerts?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Ticketing or subscriber data notice; merchant-volume drop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Debt service after disruption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Would a multi-month advertising disruption require covenant or payment waivers, as at Lee?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Waiver, amendment or liquidity request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Impersonation and AI content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do you detect brand impersonation and meet AI Act transparency duties?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DDoS or FIMI alert ahead of elections or live events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457200" y="4008247"/>
            <a:ext cx="3576218" cy="8844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91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Evidence: </a:t>
            </a:r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Topics reframe the source edition's five Risk Committee challenge questions and its monitoring triggers for client discussion.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4307738" y="4008247"/>
            <a:ext cx="3576218" cy="8844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91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Significance: </a:t>
            </a:r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Practical improvements a client can evidence: dependency map, fallback sales channel, baseline attestation for insertion devices, restoration test, insurance schedule.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8158277" y="4008247"/>
            <a:ext cx="3576218" cy="8844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91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Credit Lens: </a:t>
            </a:r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 to cyber specialists when an indicator fires or a client cannot evidence a fallback; the proportionate next step is to record and monitor, not to change a rating.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redit Intelligence Emerald">
  <a:themeElements>
    <a:clrScheme name="Credit Intelligence Emerald">
      <a:dk1>
        <a:srgbClr val="1A1A1A"/>
      </a:dk1>
      <a:lt1>
        <a:srgbClr val="FFFFFF"/>
      </a:lt1>
      <a:dk2>
        <a:srgbClr val="5A5A5A"/>
      </a:dk2>
      <a:lt2>
        <a:srgbClr val="F2F2F2"/>
      </a:lt2>
      <a:accent1>
        <a:srgbClr val="00915E"/>
      </a:accent1>
      <a:accent2>
        <a:srgbClr val="1A1A1A"/>
      </a:accent2>
      <a:accent3>
        <a:srgbClr val="5A5A5A"/>
      </a:accent3>
      <a:accent4>
        <a:srgbClr val="D9D9D9"/>
      </a:accent4>
      <a:accent5>
        <a:srgbClr val="00915E"/>
      </a:accent5>
      <a:accent6>
        <a:srgbClr val="5A5A5A"/>
      </a:accent6>
      <a:hlink>
        <a:srgbClr val="00915E"/>
      </a:hlink>
      <a:folHlink>
        <a:srgbClr val="5A5A5A"/>
      </a:folHlink>
    </a:clrScheme>
    <a:fontScheme name="Credit Intelligence Emerald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Media and Cultural Services - Sector Cyber Resilience and Credit Intelligence (migrated)</dc:title>
  <dc:subject>PptxGenJS Presentation</dc:subject>
  <dc:creator>PptxGenJS</dc:creator>
  <cp:lastModifiedBy>PptxGenJS</cp:lastModifiedBy>
  <cp:revision>1</cp:revision>
  <dcterms:created xsi:type="dcterms:W3CDTF">2026-10-27T12:10:44Z</dcterms:created>
  <dcterms:modified xsi:type="dcterms:W3CDTF">2026-10-27T12:10:44Z</dcterms:modified>
</cp:coreProperties>
</file>