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 Executive intelligence" id="{201beb8f-5908-c2a7-1139-4c209f6d041b}">
          <p14:sldIdLst>
            <p14:sldId id="256"/>
            <p14:sldId id="257"/>
            <p14:sldId id="258"/>
          </p14:sldIdLst>
        </p14:section>
        <p14:section name="B Threat and exposure intelligence" id="{062283b8-2518-8f89-e8cc-dd6842a224fc}">
          <p14:sldIdLst>
            <p14:sldId id="259"/>
            <p14:sldId id="260"/>
            <p14:sldId id="261"/>
            <p14:sldId id="262"/>
          </p14:sldIdLst>
        </p14:section>
        <p14:section name="C Resilience and financial implications" id="{20ece210-5575-71a3-09fa-e351f3537063}">
          <p14:sldIdLst>
            <p14:sldId id="263"/>
            <p14:sldId id="264"/>
            <p14:sldId id="265"/>
          </p14:sldIdLst>
        </p14:section>
        <p14:section name="D Credit process integration" id="{d9735486-9ddd-76fd-b81b-4c7351181b35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Intelligence Cover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Cyber Resilience &amp; Credit Intelligence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14630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063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&amp; Cultural Services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17320"/>
            <a:ext cx="6888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edition - evidence as of 15 October 2026; no research update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2286000"/>
            <a:ext cx="688817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2359152"/>
            <a:ext cx="688817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period: 1 September 2025 - 15 October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2756154"/>
            <a:ext cx="688817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829306"/>
            <a:ext cx="6888175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Geography: global, primary focus EU, EEA and UK; North American and other evidence comparative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54880" y="3458718"/>
            <a:ext cx="688817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3531870"/>
            <a:ext cx="6888175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not specified in source edition (external public data only)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928872"/>
            <a:ext cx="688817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4002024"/>
            <a:ext cx="6888175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1.0-M (migrated from the 15 October 2026 baseline) - Status: NEEDS_REVIEW, not a v4 edition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4631436"/>
            <a:ext cx="688817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4704588"/>
            <a:ext cx="6888175" cy="519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Senior Credit Officers; inherent sector exposure, not a borrower assessment.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Sector Risk Snapshot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 Executive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Cyber/ICT and operational-resilience exposure is provisionally High, driven by shared platforms and live-output integrity; fraud and governance are not assessable from the source edition.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4076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01472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069584"/>
            <a:ext cx="11277295" cy="225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Provisional: no approved rubric and no 24-sector calibration; ratings are migrated analytical judgements with confidence capped at Medium, not borrower assessments.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294882"/>
            <a:ext cx="11277295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S-008, S-014, S-030, S-031, S-034, S-037, S-038, S-039, S-068 (Tier 1); S-042 (Tier 2); S-010 (Tier 3) - Period: Oct 2023 (historical) - Oct 2026 - Cut-off 15 Oct 2026 - v1.0-M Migrated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668780"/>
            <a:ext cx="268216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68780"/>
            <a:ext cx="2682164" cy="5486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" y="1778508"/>
            <a:ext cx="25358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272284"/>
            <a:ext cx="2462708" cy="438912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2272284"/>
            <a:ext cx="2462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assessable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2766060"/>
            <a:ext cx="25358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30352" y="3113532"/>
            <a:ext cx="25358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3351276"/>
            <a:ext cx="253586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judgement that phishing and payment diversion can follow ticketing data exposure; no fraud research (Q10).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22244" y="1668780"/>
            <a:ext cx="268216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22244" y="1668780"/>
            <a:ext cx="2682164" cy="5486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95396" y="1778508"/>
            <a:ext cx="25358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/ ICT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31972" y="2272284"/>
            <a:ext cx="2462708" cy="438912"/>
          </a:xfrm>
          <a:prstGeom prst="rect">
            <a:avLst/>
          </a:prstGeom>
          <a:solidFill>
            <a:srgbClr val="FBE3D6"/>
          </a:solidFill>
          <a:ln w="9525">
            <a:solidFill>
              <a:srgbClr val="FBE3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31972" y="2272284"/>
            <a:ext cx="2462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395396" y="2766060"/>
            <a:ext cx="25358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395396" y="3113532"/>
            <a:ext cx="25358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395396" y="3351276"/>
            <a:ext cx="253586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drew 14.2% of mitigated HTTP DDoS requests on one network in H1 2026; regulator-recorded live-output hijacks; state museum network attack.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7288" y="1668780"/>
            <a:ext cx="268216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7288" y="1668780"/>
            <a:ext cx="2682164" cy="5486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0440" y="1778508"/>
            <a:ext cx="25358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Resilience / TPRM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97016" y="2272284"/>
            <a:ext cx="2462708" cy="438912"/>
          </a:xfrm>
          <a:prstGeom prst="rect">
            <a:avLst/>
          </a:prstGeom>
          <a:solidFill>
            <a:srgbClr val="FBE3D6"/>
          </a:solidFill>
          <a:ln w="9525">
            <a:solidFill>
              <a:srgbClr val="FBE3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7016" y="2272284"/>
            <a:ext cx="2462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260440" y="2766060"/>
            <a:ext cx="25358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60440" y="3113532"/>
            <a:ext cx="25358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60440" y="3351276"/>
            <a:ext cx="253586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points in cloud (14.5-hour AWS event), CDN and shared ticketing; British Library catalogue restored after about 26 months.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052331" y="1668780"/>
            <a:ext cx="2682164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331" y="1668780"/>
            <a:ext cx="2682164" cy="5486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25483" y="1778508"/>
            <a:ext cx="25358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/ Operating Model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62059" y="2272284"/>
            <a:ext cx="2462708" cy="438912"/>
          </a:xfrm>
          <a:prstGeom prst="rect">
            <a:avLst/>
          </a:prstGeom>
          <a:solidFill>
            <a:srgbClr val="EDEDED"/>
          </a:solidFill>
          <a:ln w="9525">
            <a:solidFill>
              <a:srgbClr val="EDED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62059" y="2272284"/>
            <a:ext cx="2462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assessable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125483" y="2766060"/>
            <a:ext cx="25358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125483" y="3113532"/>
            <a:ext cx="25358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9125483" y="3351276"/>
            <a:ext cx="2535860" cy="6126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Fragments only (an audit recommending a Louvre information systems directorate); no governance research (Q13).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183380"/>
            <a:ext cx="4397551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7200" y="4238244"/>
            <a:ext cx="4397551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messages: (1) disruption runs through shared ticketing, payment, CDN and cloud platforms; (2) live-output integrity is under-secured in US and Pakistani evidence; (3) losses arrive through revenue lines, lender waivers and multi-year recovery.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129071" y="4183380"/>
            <a:ext cx="2943108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29071" y="4238244"/>
            <a:ext cx="2943108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direction: not assessable - baseline edition, no trend series. DDoS and information-manipulation pressure is high but rarely produces disclosed losses.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346499" y="4183380"/>
            <a:ext cx="3387996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46499" y="4238244"/>
            <a:ext cx="3387996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Leveraged media borrowers may need waivers after a multi-month disruption, as Lee did (USD 11.3 million added debt); ticketing-dependent clients can lose online sales for days to weeks.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Anatomy: Key Operations &amp; Dependencies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 Executive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operations depend on a few shared digital layers - ticketing and payment, cloud regions, content delivery, and content-insertion and satellite paths - where one failure reaches many organisations.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4076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006973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061837"/>
            <a:ext cx="11277295" cy="395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shares of ticketing, playout and collection-management providers are not public, so no provider is described as dominant. Not covered in source edition: operating-model and governance complexity (Q13).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57569"/>
            <a:ext cx="11277295" cy="199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S-007, S-008, S-014, S-018, S-038, S-039, S-045, S-046 (Tier 1) - Period: Oct 2025 - Mar 2026; footprint 2024-2025 - Cut-off 15 Oct 2026 - v1.0-M Migrated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68780"/>
            <a:ext cx="168021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Subsector and process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411730" y="1668780"/>
            <a:ext cx="168021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dependency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366260" y="1668780"/>
            <a:ext cx="168021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 or bottleneck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20790" y="1668780"/>
            <a:ext cx="168021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Substitute or fallback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89404"/>
            <a:ext cx="168021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" y="2107692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Museums, monuments, libraries: visitor sales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64842" y="2464308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11730" y="2089404"/>
            <a:ext cx="1680210" cy="749808"/>
          </a:xfrm>
          <a:prstGeom prst="rect">
            <a:avLst/>
          </a:prstGeom>
          <a:solidFill>
            <a:srgbClr val="E6F4EE"/>
          </a:solidFill>
          <a:ln w="9525">
            <a:solidFill>
              <a:srgbClr val="CCE9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30018" y="2107692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ticketing platform (Vivaticket for the national monuments network)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9372" y="2464308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66260" y="2089404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4548" y="2107692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provider hosts sales and data for many institutions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73902" y="2464308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20790" y="2089404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39078" y="2107692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ticket offices and on-site sales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967228"/>
            <a:ext cx="168021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" y="2985516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online games, publishers: delivery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64842" y="3342132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411730" y="2967228"/>
            <a:ext cx="1680210" cy="749808"/>
          </a:xfrm>
          <a:prstGeom prst="rect">
            <a:avLst/>
          </a:prstGeom>
          <a:solidFill>
            <a:srgbClr val="E6F4EE"/>
          </a:solidFill>
          <a:ln w="9525">
            <a:solidFill>
              <a:srgbClr val="CCE9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30018" y="2985516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 cloud region (AWS US-EAST-1)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9372" y="3342132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66260" y="2967228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84548" y="2985516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region failure affects many dependent services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73902" y="3342132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20790" y="2967228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9078" y="2985516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delivery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845052"/>
            <a:ext cx="168021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5488" y="3863340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sites, streaming, ticketing: web delivery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64842" y="4219956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411730" y="3845052"/>
            <a:ext cx="1680210" cy="749808"/>
          </a:xfrm>
          <a:prstGeom prst="rect">
            <a:avLst/>
          </a:prstGeom>
          <a:solidFill>
            <a:srgbClr val="E6F4EE"/>
          </a:solidFill>
          <a:ln w="9525">
            <a:solidFill>
              <a:srgbClr val="CCE9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430018" y="3863340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delivery network (Cloudflare)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9372" y="4219956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366260" y="3845052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84548" y="3863340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configuration error caused global errors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73902" y="4219956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320790" y="3845052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39078" y="3863340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delivery; pre-recorded fallback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722876"/>
            <a:ext cx="1680210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5488" y="4741164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Broadcasters: live output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164842" y="5097780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411730" y="4722876"/>
            <a:ext cx="1680210" cy="749808"/>
          </a:xfrm>
          <a:prstGeom prst="rect">
            <a:avLst/>
          </a:prstGeom>
          <a:solidFill>
            <a:srgbClr val="E6F4EE"/>
          </a:solidFill>
          <a:ln w="9525">
            <a:solidFill>
              <a:srgbClr val="CCE9D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430018" y="4741164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Content-insertion equipment and satellite uplinks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119372" y="5097780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366260" y="4722876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384548" y="4741164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access or uplink path inserts content into live output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073902" y="5097780"/>
            <a:ext cx="219456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320790" y="4722876"/>
            <a:ext cx="168021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39078" y="4741164"/>
            <a:ext cx="1643634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evidenced at Tier 1 or 2 in source edition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21040" y="1668780"/>
            <a:ext cx="341345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321040" y="1723644"/>
            <a:ext cx="3413455" cy="12717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Footprint: 8.9 million people in EU cultural employment in 2025 (4.3% of jobs); UK creative industries GBP 145.8 billion GVA in 2024 (5.5% of UK GVA). Eleven subsectors are covered, from broadcasters to museums and media technology providers.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321040" y="3086862"/>
            <a:ext cx="341345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321040" y="3141726"/>
            <a:ext cx="3413455" cy="12717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Front-of-house revenue channels - ticketing, shop, card payment - run on the same corporate IT and shared platforms that attacks and outages reach; at Dresden the security system stayed operational while these channels recovered last.</a:t>
            </a:r>
            <a:endParaRPr lang="en-US" sz="1250" dirty="0"/>
          </a:p>
        </p:txBody>
      </p:sp>
      <p:sp>
        <p:nvSpPr>
          <p:cNvPr id="61" name="Shape 59"/>
          <p:cNvSpPr/>
          <p:nvPr/>
        </p:nvSpPr>
        <p:spPr>
          <a:xfrm>
            <a:off x="8321040" y="4504944"/>
            <a:ext cx="341345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321040" y="4559808"/>
            <a:ext cx="3413455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which ticketing, payment, cloud and delivery providers a borrower shares with peers, and whether it can sell and deliver without them for a week.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Threat Landscape &amp; Attack Scenarios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 Threat and exposure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platforms and live-output compromise carry the highest operational impact; DDoS and information manipulation are frequent but rarely produce disclosed losses.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84428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5899150"/>
            <a:ext cx="11277295" cy="395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levels are migrated judgements from the source edition's sector-relevance ratings, not measured outcomes. Not covered in source edition: developments after the 15 October 2026 cut-off.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294882"/>
            <a:ext cx="11277295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S-008, S-014, S-018, S-030, S-034, S-038, S-039, S-043, S-086, S-087 (Tier 1); S-042 (Tier 2); S-009, S-010 (Tier 3) - Period: Oct 2023 (historical); Nov 2025 - Oct 2026 - Cut-off 15 Oct 2026 - v1.0-M Migrated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324612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444752"/>
            <a:ext cx="3246120" cy="12717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12 months: five named incidents from November 2025 to October 2026. Last 30 days before cut-off: live-events group breach notice (1 October 2026) and class action (7 October 2026). Content theft (P5) rests on one court case and ranks below the five.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89888"/>
            <a:ext cx="3657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34840" y="1389888"/>
            <a:ext cx="2743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(pattern, not an attack)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1389888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evidence in source edition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0" y="1389888"/>
            <a:ext cx="1310335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level (migrated judgement)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1938528"/>
            <a:ext cx="7756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956816"/>
            <a:ext cx="457200" cy="6259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1956816"/>
            <a:ext cx="27249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Shared front-of-house platforms and SaaS integrations (supply-chain concentration)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1956816"/>
            <a:ext cx="29535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provider ransomware, March 2026 (Tier 3 detail); cloud and CDN outages, October-November 2025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378440" y="2029968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61320" y="2029968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44200" y="2029968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27080" y="2029968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128248" y="1975104"/>
            <a:ext cx="624535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77640" y="2564511"/>
            <a:ext cx="7756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77640" y="2582799"/>
            <a:ext cx="457200" cy="6259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2582799"/>
            <a:ext cx="27249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Broadcast signal and content-insertion compromise (targeted disruption)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269480" y="2582799"/>
            <a:ext cx="29535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Regulator-recorded stream hijacks from November 2025; Pakistani satellite feeds, March 2026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378440" y="2655951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61320" y="2655951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44200" y="2655951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27080" y="2655951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128248" y="2601087"/>
            <a:ext cx="624535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977640" y="3190494"/>
            <a:ext cx="7756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77640" y="3208782"/>
            <a:ext cx="457200" cy="6259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3208782"/>
            <a:ext cx="27249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Ransomware and extortion against institutions and publishers (targeted disruption)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3208782"/>
            <a:ext cx="29535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Dresden 2026; Lee 2025 and British Library 2023 (historical)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378440" y="3281934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1320" y="3281934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744200" y="3281934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27080" y="3281934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128248" y="3227070"/>
            <a:ext cx="624535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977640" y="3816477"/>
            <a:ext cx="7756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977640" y="3834765"/>
            <a:ext cx="457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4434840" y="3834765"/>
            <a:ext cx="27249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Hacktivist DDoS and information manipulation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3834765"/>
            <a:ext cx="29535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14.2% of mitigated HTTP DDoS requests in H1 2026; 540 FIMI incidents in 2025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378440" y="3907917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61320" y="3907917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744200" y="390791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27080" y="390791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1128248" y="3853053"/>
            <a:ext cx="624535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977640" y="4273677"/>
            <a:ext cx="7756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77640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53" name="Text 51"/>
          <p:cNvSpPr txBox="1"/>
          <p:nvPr/>
        </p:nvSpPr>
        <p:spPr>
          <a:xfrm>
            <a:off x="4434840" y="4291965"/>
            <a:ext cx="27249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 Personal data exposure and litigation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7269480" y="4291965"/>
            <a:ext cx="2953512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Live-events group breach notice and class action, October 2026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10378440" y="4365117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561320" y="4365117"/>
            <a:ext cx="146304" cy="14630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44200" y="436511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27080" y="4365117"/>
            <a:ext cx="146304" cy="1463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128248" y="4310253"/>
            <a:ext cx="624535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3977640" y="4730877"/>
            <a:ext cx="775685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932045"/>
            <a:ext cx="5501488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4986909"/>
            <a:ext cx="5501488" cy="6907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Hijacked live output and shared-platform outages reach audiences and customers within hours; ransomware against legacy estates sets the longest recovery tails.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6233008" y="4932045"/>
            <a:ext cx="5501488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233008" y="4986909"/>
            <a:ext cx="5501488" cy="6907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borrower discussions toward shared suppliers and live-output equipment, not only the borrower's own network.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 Cyber Threat Outlook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 Threat and exposure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Conflicts, elections and major live events drive DDoS and information-manipulation pressure on media, but the source edition holds no confirmed state attribution for a sector incident.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4076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006973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061837"/>
            <a:ext cx="11277295" cy="395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edition: dedicated geopolitical analysis (Q07), exposed-region mapping and state-linked espionage against media; only fragments exist. Benchmarks measure targeting, not impact.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57569"/>
            <a:ext cx="11277295" cy="199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S-018, S-041, S-043, S-047, S-051, S-059, S-075 (Tier 1); S-042 (Tier 2) - Period: 2025 - Oct 2026 - Cut-off 15 Oct 2026 - v1.0-M Migrated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68780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Geopolitical-to-cyber pathway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668780"/>
            <a:ext cx="5973775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Source-edition evidence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585655" y="1668780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1388"/>
            <a:ext cx="2514600" cy="46609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" y="1961388"/>
            <a:ext cx="2459736" cy="4660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coverage -&gt; DDoS against media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08376" y="2194433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291840" y="1961388"/>
            <a:ext cx="5973775" cy="4660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links media's 14.2% DDoS share in H1 2026 to coverage of the wars in Iran and Ukraine and to the World Cup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02191" y="2194433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85655" y="1997964"/>
            <a:ext cx="2148840" cy="39293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3943" y="1997964"/>
            <a:ext cx="2112264" cy="39293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interpretation; no actor named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18918"/>
            <a:ext cx="2514600" cy="644271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" y="2518918"/>
            <a:ext cx="2459736" cy="64427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Hacktivist DDoS networks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08376" y="2841053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291840" y="2518918"/>
            <a:ext cx="5973775" cy="64427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NoName057(16) made 35.8% of ideology-driven claims in ENISA's business-services group (2025); Europol disrupted its infrastructure in July 2025; Germany issued six arrest warrants against suspects in Russia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02191" y="2841053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85655" y="2555494"/>
            <a:ext cx="2148840" cy="571119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3943" y="2555494"/>
            <a:ext cx="2112264" cy="57111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Law-enforcement action; group claims stay claims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54629"/>
            <a:ext cx="2514600" cy="46609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4632" y="3254629"/>
            <a:ext cx="2459736" cy="4660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manipulation against media brands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008376" y="3487674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291840" y="3254629"/>
            <a:ext cx="5973775" cy="46609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EEAS: 540 FIMI incidents in 2025; impersonation of established outlets and fabricated media brands; 2026 elections listed as at risk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302191" y="3487674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85655" y="3291205"/>
            <a:ext cx="2148840" cy="39293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3943" y="3291205"/>
            <a:ext cx="2112264" cy="39293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reporting; not reproduced per incident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812159"/>
            <a:ext cx="2514600" cy="4572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" y="3812159"/>
            <a:ext cx="24597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broadcast hijack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008376" y="4040759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291840" y="3812159"/>
            <a:ext cx="597377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Pakistani news channels' satellite feeds hijacked on 1 March 2026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302191" y="4040759"/>
            <a:ext cx="237744" cy="0"/>
          </a:xfrm>
          <a:prstGeom prst="line">
            <a:avLst/>
          </a:prstGeom>
          <a:noFill/>
          <a:ln w="15875">
            <a:solidFill>
              <a:srgbClr val="00915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585655" y="3848735"/>
            <a:ext cx="2148840" cy="38404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3943" y="3848735"/>
            <a:ext cx="2112264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attribution published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433951"/>
            <a:ext cx="4078662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7200" y="4488815"/>
            <a:ext cx="4078662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responses: European Democracy Shield (Commission Communication, 12 November 2025); European Media Freedom Act source protection from 8 August 2025; UK foreign interference offences in force since 20 December 2023.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810182" y="4433951"/>
            <a:ext cx="320973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10182" y="4488815"/>
            <a:ext cx="3209730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impersonation and availability attacks matter most around elections, conflicts and major live events, when audiences, advertisers and rights holders concentrate.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294232" y="4433951"/>
            <a:ext cx="3440263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294232" y="4488815"/>
            <a:ext cx="3440263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media borrowers how they detect impersonation of their brands and prepare for event-period DDoS; treat state-linked activity as a monitoring trigger rather than a rating driver.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Cyber Incidents &amp; Lessons Learned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 Threat and exposure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named incidents meet the evidence standard but only one is in the EU; the Dresden case shows revenue channels failing first and recovering last.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84428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5899150"/>
            <a:ext cx="11277295" cy="395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covered in source edition: the second and third detailed case studies and incidents after 15 October 2026. Case study 1 does not establish cost, data loss, attacker or access vector.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294882"/>
            <a:ext cx="11277295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S-002, S-003, S-004, S-014, S-015, S-018, S-086, S-087 (Tier 1); S-006, S-013, S-017, S-019, S-074 (Tier 3) - Period: Nov 2025 - Oct 2026 - Cut-off 15 Oct 2026 - v1.0-M Migrated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591056"/>
            <a:ext cx="10911535" cy="0"/>
          </a:xfrm>
          <a:prstGeom prst="line">
            <a:avLst/>
          </a:prstGeom>
          <a:noFill/>
          <a:ln w="12700">
            <a:solidFill>
              <a:srgbClr val="5A5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18778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61578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97475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0275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76173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8973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54871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97671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33569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76369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712266" y="1545336"/>
            <a:ext cx="0" cy="9144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5066" y="1709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96594" y="1481328"/>
            <a:ext cx="219456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96594" y="1481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91357" y="1481328"/>
            <a:ext cx="219456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91357" y="1481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00203" y="1481328"/>
            <a:ext cx="219456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00203" y="1481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66445" y="1481328"/>
            <a:ext cx="219456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66445" y="1481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1525822" y="1481328"/>
            <a:ext cx="219456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525822" y="1481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56816"/>
          <a:ext cx="11277295" cy="914400"/>
        </p:xfrm>
        <a:graphic>
          <a:graphicData uri="http://schemas.openxmlformats.org/drawingml/2006/table">
            <a:tbl>
              <a:tblPr/>
              <a:tblGrid>
                <a:gridCol w="2819324"/>
                <a:gridCol w="2681796"/>
                <a:gridCol w="2406740"/>
                <a:gridCol w="1856628"/>
                <a:gridCol w="15128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Organisation and period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or documented weakness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Disruption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consequence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Dresden State Art Collections, Jan 2026 (case study 1)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disclosed; activity over several days before containment (media-relayed ministerial answer)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Shop, visitor services and card payment lost; website back after 5 days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disclosed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recover last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US radio stations, Nov 2025 onward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Improperly secured, remotely accessible streaming and alerting equipment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output replaced with unauthorised audio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disclosed; FCC rule June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Harden insertion devices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Pakistani news channels, Mar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Satellite feed; possible uplink path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Unauthorised content aired at the 9 pm bulletin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disclosed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 path is exposed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Spotify and labels, Dec 2025 - Apr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Account-based scraping; circumvention of protection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Catalogue copying alleged at scale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USD 322 million award (media-reported); collection doubtful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Remedies may not recover 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Live Nation, Oct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and health data exposure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operational impact (company statement, media-reported)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action within a week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Notice turns into litigation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457200" y="4931537"/>
            <a:ext cx="3950552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7200" y="4986401"/>
            <a:ext cx="3950552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Selection: in-period event or outcome, Tier 1 or 2 support, in-scope subsector, distinct lesson. The March 2026 shared ticketing ransomware is excluded: its detail rests on Tier 3 relays.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4682072" y="4931537"/>
            <a:ext cx="3389052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682072" y="4986401"/>
            <a:ext cx="3389052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asymmetric: public cultural bodies publish chronologies but rarely costs; listed groups disclose costs; platforms surface through litigation.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8345443" y="4931537"/>
            <a:ext cx="3389052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45443" y="4986401"/>
            <a:ext cx="3389052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card-payment and online-sales loss at public cultural counterparties as a foreseeable multi-week event, and ask how merchant and donor flows continue.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Weaknesses &amp; Resilience Priorities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 Threat and exposure intelligence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resilience priorities follow from observed attacks; hardening live-output equipment, fallback for shared suppliers and segregation of transactional systems address the highest-impact pathways.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4076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01472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069584"/>
            <a:ext cx="11277295" cy="225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are sector-informed, not findings about any borrower's controls; confidence is taken from the linked source-edition judgement.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294882"/>
            <a:ext cx="11277295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S-008, S-014, S-018, S-034, S-038, S-039, S-043, S-044, S-053, S-071, S-086 (Tier 1); S-009 (Tier 3) - Period: Apr 2018 (standard) - Oct 2026 - Cut-off 15 Oct 2026 - v1.0-M Migrated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68780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observed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68780"/>
            <a:ext cx="2514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evidence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6878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that contains disruption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1668780"/>
            <a:ext cx="2133295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(months)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002975" y="1668780"/>
            <a:ext cx="822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1388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1961388"/>
            <a:ext cx="28803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Single points in ticketing, payment, CDN and cloud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961388"/>
            <a:ext cx="24231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outage 2026 (Tier 3); 2025 cloud and CDN outages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961388"/>
            <a:ext cx="26517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fallback sales and delivery channels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78240" y="2034540"/>
            <a:ext cx="1066648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14816" y="2034540"/>
            <a:ext cx="1011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 months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02975" y="1979676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37261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372614"/>
            <a:ext cx="2880360" cy="5894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Default passwords and remote access on insertion and alerting devices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2372614"/>
            <a:ext cx="2423160" cy="5894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Regulator-recorded hijacks; satellite hijacks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372614"/>
            <a:ext cx="2651760" cy="58940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Password, patching and segmentation baseline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78240" y="2445766"/>
            <a:ext cx="1066648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14816" y="2445766"/>
            <a:ext cx="1011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 months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002975" y="2390902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2962021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2962021"/>
            <a:ext cx="28803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Corporate IT shared with ticketing, shop, newsroom and playout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2962021"/>
            <a:ext cx="24231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Dresden 2026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0" y="2962021"/>
            <a:ext cx="26517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Segregation and tested restoration of transactional channels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11564" y="3035173"/>
            <a:ext cx="1599971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48140" y="3035173"/>
            <a:ext cx="154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3-12 months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02975" y="2980309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3373247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3373247"/>
            <a:ext cx="28803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Exposed ticket-holder, subscriber and donor data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429000" y="3373247"/>
            <a:ext cx="24231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exposure (Tier 3); live-events notice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943600" y="3373247"/>
            <a:ext cx="26517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typology monitoring; out-of-band payment verification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778240" y="3446399"/>
            <a:ext cx="533324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57284" y="3446399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0-3 months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002975" y="3391535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3784473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7200" y="3784473"/>
            <a:ext cx="28803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Spoofed outlets and synthetic media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3429000" y="3784473"/>
            <a:ext cx="24231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EEAS impersonation findings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943600" y="3784473"/>
            <a:ext cx="26517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 and labelling procedures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844888" y="3857625"/>
            <a:ext cx="1066648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881464" y="3857625"/>
            <a:ext cx="1011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1002975" y="3802761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" y="4195699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7200" y="4195699"/>
            <a:ext cx="28803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Legacy estates and thin insurance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3429000" y="4195699"/>
            <a:ext cx="24231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Library; 35% of UK charities insured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5943600" y="4195699"/>
            <a:ext cx="2651760" cy="41122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objectives, insurance and waiver triggers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844888" y="4268851"/>
            <a:ext cx="1066648" cy="219456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881464" y="4268851"/>
            <a:ext cx="1011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months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002975" y="4213987"/>
            <a:ext cx="822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457200" y="4606925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78240" y="1961388"/>
            <a:ext cx="0" cy="2645537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58" name="Text 56"/>
          <p:cNvSpPr txBox="1"/>
          <p:nvPr/>
        </p:nvSpPr>
        <p:spPr>
          <a:xfrm>
            <a:off x="8595360" y="46252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9311564" y="1961388"/>
            <a:ext cx="0" cy="2645537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60" name="Text 58"/>
          <p:cNvSpPr txBox="1"/>
          <p:nvPr/>
        </p:nvSpPr>
        <p:spPr>
          <a:xfrm>
            <a:off x="9128684" y="46252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844888" y="1961388"/>
            <a:ext cx="0" cy="2645537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9662008" y="46252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10378211" y="1961388"/>
            <a:ext cx="0" cy="2645537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10195331" y="46252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911535" y="1961388"/>
            <a:ext cx="0" cy="2645537"/>
          </a:xfrm>
          <a:prstGeom prst="line">
            <a:avLst/>
          </a:prstGeom>
          <a:noFill/>
          <a:ln w="6350">
            <a:solidFill>
              <a:srgbClr val="D9D9D9"/>
            </a:solidFill>
            <a:prstDash val="dash"/>
          </a:ln>
        </p:spPr>
      </p:sp>
      <p:sp>
        <p:nvSpPr>
          <p:cNvPr id="66" name="Text 64"/>
          <p:cNvSpPr txBox="1"/>
          <p:nvPr/>
        </p:nvSpPr>
        <p:spPr>
          <a:xfrm>
            <a:off x="10728655" y="46252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" y="4826381"/>
            <a:ext cx="3613666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4881245"/>
            <a:ext cx="3613666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named in the source edition - NIST CSF 2.0, ISO/IEC 27001 and 27036, EBU R 148, C2PA, PCI DSS v4.0.1 - are reference vocabularies, not law; EBU R 148 dates from April 2018.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4345186" y="4826381"/>
            <a:ext cx="3426429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345186" y="4881245"/>
            <a:ext cx="3426429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two quantified cases, revenue effects came from production and distribution outages rather than data theft, so continuity capabilities carry the cash-flow weight.</a:t>
            </a:r>
            <a:endParaRPr lang="en-US" sz="1250" dirty="0"/>
          </a:p>
        </p:txBody>
      </p:sp>
      <p:sp>
        <p:nvSpPr>
          <p:cNvPr id="71" name="Shape 69"/>
          <p:cNvSpPr/>
          <p:nvPr/>
        </p:nvSpPr>
        <p:spPr>
          <a:xfrm>
            <a:off x="8045935" y="4826381"/>
            <a:ext cx="368856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045935" y="4881245"/>
            <a:ext cx="3688560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completion evidence - dependency maps, baseline attestations, restoration tests - rather than policy statements; only the US alerting order sets a mandatory equipment baseline.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&amp; Supervisory Resilience Expectations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 Resilience and financial implications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and UK horizontal cyber law does not name media or culture; obligations arrive through providers, products, media and data rules, and US disclosure and broadcast rules.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84428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5899150"/>
            <a:ext cx="11277295" cy="395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items: Digital Omnibus effect on Article 50, AVMSD text, national Article 85 laws, UK telecoms security scope for broadcast transmission. Not covered in source edition: supervisory priorities, sanction consequences, US state breach and video privacy rules.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294882"/>
            <a:ext cx="11277295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S-014, S-048, S-049, S-050, S-051, S-052, S-053, S-055, S-060, S-061, S-063, S-064, S-065, S-066, S-069, S-070, S-075, S-076, S-081 (Tier 1); S-072, S-083 (Tier 3) - Period: Legal milestones 2016-2027 - Cut-off 15 Oct 2026 - v1.0-M Migrated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89888"/>
          <a:ext cx="11277295" cy="914400"/>
        </p:xfrm>
        <a:graphic>
          <a:graphicData uri="http://schemas.openxmlformats.org/drawingml/2006/table">
            <a:tbl>
              <a:tblPr/>
              <a:tblGrid>
                <a:gridCol w="2131684"/>
                <a:gridCol w="3369436"/>
                <a:gridCol w="3231908"/>
                <a:gridCol w="25442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(comparative)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Horizontal cyber law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NIS2 (binding via national law): media not listed; reached through CDN, cloud and managed service providers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Regulations 2018 in force, media outside scope; Cyber Security and Resilience Bill at Lords report stage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CIRCIA final rule status unconfirmed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Products and equipment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 Resilience Act reporting from 11 September 2026; main obligations 11 December 2027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Connectable product security regime since 29 April 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FCC alerting order adopted June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and information integrity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Freedom Act from 8 August 2025; AI Act Article 50 from 2 August 2026; political advertising rules from 10 October 2025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Act 2024 (no cyber duties in text read); foreign interference offences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covered in source edition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and disclosure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GDPR breach notification within 72 hours; Article 85 national derogations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 purposes exemption does not list security or regulator notification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8-K Item 1.05 within four business days; COPPA amendments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Designated entities and ransomware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 Directive: media and culture not among eleven sectors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Ransomware payment ban: proposal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5A5A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covered in source edition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401185"/>
            <a:ext cx="3867306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456049"/>
            <a:ext cx="3867306" cy="6907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from primary instruments or official pages in the source edition; Australia's infrastructure security law alone names broadcasting assets.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98826" y="4401185"/>
            <a:ext cx="3243547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98826" y="4456049"/>
            <a:ext cx="3243547" cy="6907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In-period movement came from AI transparency, product reporting and a US broadcast rule; the UK bill is not yet law.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16693" y="4401185"/>
            <a:ext cx="3617802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16693" y="4456049"/>
            <a:ext cx="3617802" cy="69075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whether key suppliers are regulated as managed service, cloud or delivery providers, and how AI Act transparency duties are met.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Impact of Cyber Incidents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 Resilience and financial implications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loss evidence is sparse and not additive; quantified effects come through curtailed revenue lines, debt added through waivers and multi-year recovery.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006973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061837"/>
            <a:ext cx="11277295" cy="395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differ in currency, statistic type and population and are never summed; both quantified attacks predate the period. Not covered in source edition: five-year cost trend and sector business-interruption benchmarks.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57569"/>
            <a:ext cx="11277295" cy="199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S-030, S-031, S-032, S-033, S-034 (Tier 1) - Period: Attacks Oct 2023 - Jan 2026; disclosures May 2025 - Jul 2026 - Cut-off 15 Oct 2026 - v1.0-M Migrated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2471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89888"/>
            <a:ext cx="54864" cy="13716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1435608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10.5 million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1773936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cash flows attributed to the February 2025 attack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176272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Enterprises (US newspaper group)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2523744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to 28 Sep 2025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38856" y="1389888"/>
            <a:ext cx="2471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38856" y="1389888"/>
            <a:ext cx="54864" cy="13716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6872" y="1435608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3.7 million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166872" y="1773936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Restoration cost expensed (subset of the loss)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166872" y="2176272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Enterprises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166872" y="2523744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to 28 Sep 2025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0512" y="1389888"/>
            <a:ext cx="2471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0512" y="1389888"/>
            <a:ext cx="54864" cy="13716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48528" y="1435608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6.8 million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748528" y="1773936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claims filed (claim, not recovery)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748528" y="2176272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Enterprises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748528" y="2523744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to 28 Sep 2025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2871216"/>
            <a:ext cx="2471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871216"/>
            <a:ext cx="54864" cy="13716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" y="2916936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11.3 million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585216" y="3255264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added through waivers (not additive)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85216" y="3657600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Enterprises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" y="4005072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28 Sep 2025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038856" y="2871216"/>
            <a:ext cx="2471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856" y="2871216"/>
            <a:ext cx="54864" cy="13716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66872" y="2916936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JPY 8.3 billion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3166872" y="3255264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effect, company estimate (June 2024 attack)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166872" y="3657600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KADOKAWA (Japanese publisher and platform group)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166872" y="4005072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to 31 Mar 2025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20512" y="2871216"/>
            <a:ext cx="2471928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20512" y="2871216"/>
            <a:ext cx="54864" cy="1371600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48528" y="2916936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72.8% vs 81.8%</a:t>
            </a:r>
            <a:endParaRPr lang="en-US" sz="1900" dirty="0"/>
          </a:p>
        </p:txBody>
      </p:sp>
      <p:sp>
        <p:nvSpPr>
          <p:cNvPr id="42" name="Text 40"/>
          <p:cNvSpPr txBox="1"/>
          <p:nvPr/>
        </p:nvSpPr>
        <p:spPr>
          <a:xfrm>
            <a:off x="5748528" y="3255264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within 10% of target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748528" y="3657600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Library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748528" y="4005072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2025/26 vs 2024/25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4352544"/>
            <a:ext cx="2471928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352544"/>
            <a:ext cx="54864" cy="1371600"/>
          </a:xfrm>
          <a:prstGeom prst="rect">
            <a:avLst/>
          </a:prstGeom>
          <a:solidFill>
            <a:srgbClr val="5A5A5A"/>
          </a:solidFill>
          <a:ln w="9525">
            <a:solidFill>
              <a:srgbClr val="5A5A5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85216" y="4398264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disclosed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85216" y="4736592"/>
            <a:ext cx="2289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Cost, data and insurance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85216" y="5138928"/>
            <a:ext cx="2289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Dresden State Art Collections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85216" y="5486400"/>
            <a:ext cx="2289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412480" y="1389888"/>
            <a:ext cx="332201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412480" y="1444752"/>
            <a:ext cx="3322015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EU or UK entity disclosed a quantified cyber cost for an in-period incident. Ransom payments are rarely disclosed, so their role cannot be assessed.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412480" y="2420620"/>
            <a:ext cx="332201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412480" y="2475484"/>
            <a:ext cx="3322015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tails run from days (Dresden website) to more than two years (British Library catalogue); revenue dips followed production and distribution outages in both quantified cases.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8412480" y="3645027"/>
            <a:ext cx="332201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412480" y="3699891"/>
            <a:ext cx="3322015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unscheduled waiver or amendment requests, merchant-volume drops and fraud alerts at media and cultural counterparties after a sector incident.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Cyber-to-Credit Risk Transmission &amp; Stress Scenarios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 Resilience and financial implications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Illustrative, not a forecast or loss estimate: 1 week hits live revenue, 4 weeks of supplier outage hit ticketing cash flow, 8 weeks of targeted disruption reach margins and debt service.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4076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77407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232271"/>
            <a:ext cx="11277295" cy="225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only: no probabilities, no numerical loss per band; durations come from single cases and several rest on Tier 3 reporting.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57569"/>
            <a:ext cx="11277295" cy="199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S-003, S-008, S-023, S-030, S-031, S-032, S-034, S-038, S-039 (Tier 1); S-005, S-009, S-010 (Tier 3) - Period: Oct 2023 - Mar 2026 - Cut-off 15 Oct 2026 - v1.0-M Migrated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68780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(illustrative)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68780"/>
            <a:ext cx="1691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668780"/>
            <a:ext cx="2651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evidence in source edition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1668780"/>
            <a:ext cx="1783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effect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1668780"/>
            <a:ext cx="2224735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channel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61388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052828"/>
            <a:ext cx="240030" cy="256032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094" y="20253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week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961388"/>
            <a:ext cx="15819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digital-dependency failure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074920" y="1961388"/>
            <a:ext cx="254203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event about 14.5 hours; Cloudflare outage about 6 hours; Dresden website back after 5 days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1961388"/>
            <a:ext cx="167335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streams, games, ticket sales and news publication stop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9509760" y="1961388"/>
            <a:ext cx="2179015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live audience and advertising, make-goods, refunds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587371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78811"/>
            <a:ext cx="960120" cy="256032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72184" y="2651379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2587371"/>
            <a:ext cx="1581912" cy="9823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 or fourth-party supply-chain concentration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074920" y="2587371"/>
            <a:ext cx="2542032" cy="9823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Monuments network reopened online sales after 10 days and the national library was still unable on 19 March; Dresden online booking within about a month (all Tier 3)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2587371"/>
            <a:ext cx="1673352" cy="9823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ticketing and payments lost across many institutions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2587371"/>
            <a:ext cx="2179015" cy="98234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 ticketing cash-flow loss; phishing and payment fraud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56971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61156"/>
            <a:ext cx="1920240" cy="256032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32304" y="36337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3569716"/>
            <a:ext cx="158191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operational disruption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074920" y="3569716"/>
            <a:ext cx="254203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print advertising capacity limited for several months; British Library catalogue about 26 months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3569716"/>
            <a:ext cx="1673352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loss, rebuild, regulatory scrutiny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9509760" y="3569716"/>
            <a:ext cx="2179015" cy="62598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pressure, waivers, covenant pressure, public-funding draw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4195699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78579"/>
            <a:ext cx="4165344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433443"/>
            <a:ext cx="4165344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Transmission: disruption -&gt; lost output, publication or sales -&gt; advertising, subscription and ticketing cash flow -&gt; temporary liquidity disruption (Lee) -&gt; waivers and debt service (USD 11.3 million added debt at Lee) -&gt; insurance recovery that lags costs.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896864" y="4378579"/>
            <a:ext cx="3807870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96864" y="4433443"/>
            <a:ext cx="3807870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Duration, not data loss, drives the cash-flow effect; correlated outages across many borrowers can coincide with high-value live events. Offsets: multi-provider delivery, alternative sales channels, segregation and manual fallback.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979054" y="4378579"/>
            <a:ext cx="2755441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79054" y="4433443"/>
            <a:ext cx="2755441" cy="107810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data needed: reliance on online and live-event revenue, shared suppliers, recovery time objectives, insurance cover and waiver triggers.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Questionnaire-to-Sector Intelligence Mapping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 Credit process integration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map: six generic discussion items link sector threats and incident evidence to credit consequences; no questionnaire was supplied, so no real item IDs are used.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01472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069584"/>
            <a:ext cx="11277295" cy="225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Provisional: no questionnaire supplied; replace PROV- IDs with actual item IDs once an approved item list is provided.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294882"/>
            <a:ext cx="11277295" cy="36195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S-001, S-008, S-014, S-018, S-030, S-034, S-038, S-039, S-043, S-086 (Tier 1); S-009 (Tier 3) - Period: Oct 2023 (historical); Oct 2025 - Oct 2026 - Cut-off 15 Oct 2026 - v1.0-M Migrated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89888"/>
          <a:ext cx="11277295" cy="914400"/>
        </p:xfrm>
        <a:graphic>
          <a:graphicData uri="http://schemas.openxmlformats.org/drawingml/2006/table">
            <a:tbl>
              <a:tblPr/>
              <a:tblGrid>
                <a:gridCol w="2269212"/>
                <a:gridCol w="2819324"/>
                <a:gridCol w="2819324"/>
                <a:gridCol w="33694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and item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-&gt; incident evidence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Operational -&gt; credit consequence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Suggested question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1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PROV-01 Shared suppliers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P2 -&gt; ticketing outage 2026 (Tier 3); 2025 cloud and CDN outages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and delivery stop -&gt; correlated revenue loss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Which ticketing, payment, cloud and delivery providers do you share with peers?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PROV-02 Live-output equipment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P3 -&gt; regulator-recorded and satellite hijacks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Hijacked output -&gt; regulatory scrutiny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insertion and alerting devices meet a password, patch and segmentation baseline?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PROV-03 Segregation and recovery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P1 -&gt; Dresden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 and card payment down -&gt; weeks of lost online 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 security, building and playout systems separate from corporate IT?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PROV-04 Customer data and fraud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P6 -&gt; live-events notice; ticketing exposure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Notification -&gt; litigation and fraud losses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are ticket-holder and subscriber data exposures monitored?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PROV-05 Brand provenance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P4 -&gt; EEAS impersonation findings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Impersonation -&gt; brand integrity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do you detect impersonation and meet AI Act transparency duties?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91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PROV-06 Recovery and funding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P1 -&gt; Lee; British Library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recovery -&gt; waivers, funding draw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recovery time, insurance and waiver triggers apply?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4492625"/>
            <a:ext cx="2796475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4547489"/>
            <a:ext cx="2796475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the source edition's actions A1-A6 and pathways P1-P6; no borrower answers are ingested.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27995" y="4492625"/>
            <a:ext cx="4515609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7995" y="4547489"/>
            <a:ext cx="4515609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Borrower factors that change materiality: multi-provider delivery, alternative sales channels, segregated playout, manual fallback, insurance cover and public-funding support.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317923" y="4492625"/>
            <a:ext cx="3416572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17923" y="4547489"/>
            <a:ext cx="3416572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answers as discussion input only; self-reported answers are not confirmed evidence and trigger no automatic adverse judgement.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46888"/>
            <a:ext cx="109728" cy="23774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860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3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Engagement: Key Questions &amp; Actions</a:t>
            </a:r>
            <a:pPr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 Credit process integration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85216"/>
            <a:ext cx="1127729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client discussion topics, each with an early-warning indicator, let credit officers test continuity of sales, output and debt service without assessing borrower controls.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177407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6232271"/>
            <a:ext cx="11277295" cy="22529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</a:t>
            </a:r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address inherent sector exposure; answers are self-reported and are not an audit, compliance or creditworthiness finding.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57569"/>
            <a:ext cx="11277295" cy="19926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S-008, S-014, S-030, S-031, S-043, S-053, S-086 (Tier 1); S-009 (Tier 3) - Period: Oct 2025 - Oct 2026 - Cut-off 15 Oct 2026 - v1.0-M Migrated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389888"/>
            <a:ext cx="2148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54680" y="1389888"/>
            <a:ext cx="49377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for the client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389888"/>
            <a:ext cx="3642055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Early-warning indicator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8249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691640"/>
            <a:ext cx="548640" cy="4478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1682496"/>
            <a:ext cx="2039112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suppliers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154680" y="1682496"/>
            <a:ext cx="4754880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providers could stop your sales or delivery for a week, and what is your fallback?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737360"/>
            <a:ext cx="45720" cy="33807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682496"/>
            <a:ext cx="3550615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outage or breach notice; prosecutor statement naming a supplier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130298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139442"/>
            <a:ext cx="548640" cy="4478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130298"/>
            <a:ext cx="2039112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Live-output integrity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130298"/>
            <a:ext cx="4754880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content-insertion and alerting devices meet a baseline comparable to the June 2026 FCC rule?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092440" y="2185162"/>
            <a:ext cx="45720" cy="33807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2130298"/>
            <a:ext cx="3550615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device warning; hijack report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2578100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587244"/>
            <a:ext cx="548640" cy="4478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2578100"/>
            <a:ext cx="2039112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sales loss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2578100"/>
            <a:ext cx="4754880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a ten-day loss of online ticketing show up in your sales and fraud alerts?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92440" y="2632964"/>
            <a:ext cx="45720" cy="33807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2578100"/>
            <a:ext cx="3550615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or subscriber data notice; merchant-volume drop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3025902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035046"/>
            <a:ext cx="548640" cy="4478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3025902"/>
            <a:ext cx="2039112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service after disruption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3025902"/>
            <a:ext cx="4754880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Would a multi-month advertising disruption require covenant or payment waivers, as at Lee?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92440" y="3080766"/>
            <a:ext cx="45720" cy="33807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3025902"/>
            <a:ext cx="3550615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Waiver, amendment or liquidity request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473704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3482848"/>
            <a:ext cx="548640" cy="44780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05840" y="3473704"/>
            <a:ext cx="2039112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Impersonation and AI content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3154680" y="3473704"/>
            <a:ext cx="4754880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detect brand impersonation and meet AI Act transparency duties?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092440" y="3528568"/>
            <a:ext cx="45720" cy="338074"/>
          </a:xfrm>
          <a:prstGeom prst="rect">
            <a:avLst/>
          </a:prstGeom>
          <a:solidFill>
            <a:srgbClr val="00915E"/>
          </a:solidFill>
          <a:ln w="9525">
            <a:solidFill>
              <a:srgbClr val="00915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83880" y="3473704"/>
            <a:ext cx="3550615" cy="44780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 or FIMI alert ahead of elections or live events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3921506"/>
            <a:ext cx="1127729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4122674"/>
            <a:ext cx="2929914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4177538"/>
            <a:ext cx="2929914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reframe the source edition's five Risk Committee challenge questions and its monitoring triggers for client discussion.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661434" y="4122674"/>
            <a:ext cx="3899371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61434" y="4177538"/>
            <a:ext cx="3899371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improvements a client can evidence: dependency map, fallback sales channel, baseline attestation for insertion devices, restoration test, insurance schedule.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7835125" y="4122674"/>
            <a:ext cx="3899371" cy="0"/>
          </a:xfrm>
          <a:prstGeom prst="line">
            <a:avLst/>
          </a:prstGeom>
          <a:noFill/>
          <a:ln w="19050">
            <a:solidFill>
              <a:srgbClr val="00915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35125" y="4177538"/>
            <a:ext cx="3899371" cy="884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91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Lens: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to cyber specialists when an indicator fires or a client cannot evidence a fallback; the proportionate next step is to record and monitor, not to change a rating.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Intelligence Emerald">
  <a:themeElements>
    <a:clrScheme name="Credit Intelligence Emerald">
      <a:dk1>
        <a:srgbClr val="1A1A1A"/>
      </a:dk1>
      <a:lt1>
        <a:srgbClr val="FFFFFF"/>
      </a:lt1>
      <a:dk2>
        <a:srgbClr val="5A5A5A"/>
      </a:dk2>
      <a:lt2>
        <a:srgbClr val="F2F2F2"/>
      </a:lt2>
      <a:accent1>
        <a:srgbClr val="00915E"/>
      </a:accent1>
      <a:accent2>
        <a:srgbClr val="1A1A1A"/>
      </a:accent2>
      <a:accent3>
        <a:srgbClr val="5A5A5A"/>
      </a:accent3>
      <a:accent4>
        <a:srgbClr val="D9D9D9"/>
      </a:accent4>
      <a:accent5>
        <a:srgbClr val="00915E"/>
      </a:accent5>
      <a:accent6>
        <a:srgbClr val="5A5A5A"/>
      </a:accent6>
      <a:hlink>
        <a:srgbClr val="00915E"/>
      </a:hlink>
      <a:folHlink>
        <a:srgbClr val="5A5A5A"/>
      </a:folHlink>
    </a:clrScheme>
    <a:fontScheme name="Credit Intelligence Emera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and Cultural Services - Sector Cyber Resilience and Credit Intelligence (migrated)</dc:title>
  <dc:subject>PptxGenJS Presentation</dc:subject>
  <dc:creator>PptxGenJS</dc:creator>
  <cp:lastModifiedBy>PptxGenJS</cp:lastModifiedBy>
  <cp:revision>1</cp:revision>
  <dcterms:created xsi:type="dcterms:W3CDTF">2026-10-27T14:01:52Z</dcterms:created>
  <dcterms:modified xsi:type="dcterms:W3CDTF">2026-10-27T14:01:52Z</dcterms:modified>
</cp:coreProperties>
</file>