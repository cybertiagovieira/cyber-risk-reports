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alytical readout" id="{bc002eb5-38d6-3c8b-84de-44cdc741a1f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Sector Exposure &amp; Executive Risk Outlook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Media &amp; Cultural Services cyber exposure is concentrated in shared front-of-house platforms and live-output integrity; it reaches the financial system mainly through revenue lines, media-group credit and long recovery tails; ransom payments are rarely disclosed, so their role cannot be assessed.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5" name="evidence-interpretation"/>
          <p:cNvSpPr txBox="1"/>
          <p:nvPr/>
        </p:nvSpPr>
        <p:spPr>
          <a:xfrm>
            <a:off x="457200" y="1847088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Evidence base: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 public records for 1 September 2025 to 15 October 2026 across the EU, EEA and UK with global comparison - institution, ministry, prosecutor, regulator and court releases; company filings; ENISA, EEAS, Cloudflare and UK official statistics.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Footprint: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8.9 million people worked in EU cultural employment in 2025 (4.3% of jobs) and UK creative industries produced 5.5% of gross value added in 2024. Media drew 14.2% of mitigated DDoS requests on one large network in H1 2026, more than any other industry.</a:t>
            </a:r>
            <a:endParaRPr lang="en-US" sz="1350" dirty="0"/>
          </a:p>
        </p:txBody>
      </p:sp>
      <p:graphicFrame>
        <p:nvGraphicFramePr>
          <p:cNvPr id="2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47088"/>
          <a:ext cx="7251192" cy="914400"/>
        </p:xfrm>
        <a:graphic>
          <a:graphicData uri="http://schemas.openxmlformats.org/drawingml/2006/table">
            <a:tbl>
              <a:tblPr/>
              <a:tblGrid>
                <a:gridCol w="4018733"/>
                <a:gridCol w="961001"/>
                <a:gridCol w="22714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 judgement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would change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ticketing, payment, cloud and content delivery platforms are the best-documented disruption pathway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Disclosed content or archive losses larger than access effects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Broadcast signal and content-insertion integrity is under-secured in the US and Pakistani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that EU and UK playout meets equivalent baselines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DDoS and information-manipulation pressure is high but rarely produces disclosed losses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Quantified revenue loss from a multi-day DDoS outage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effects arrive through revenue lines, lender waivers and multi-year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In-period EU or UK disclosures of short, low-cost recoveries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 reaches the sector indirectly through providers, products and media rules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measures designating media or cultural entities directly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8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map which ticketing, payment, cloud and delivery providers large media and cultural counterparties share, and track waiver and liquidity signals at leveraged media borrowers after sector incidents.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no EU or UK entity disclosed a quantified cost for an in-period incident; quantified cases are US and Japanese with earlier attack dates, and benchmarks measure targeting, not impact.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Threats &amp; Top 5 Cyber Attacks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Five incidents meet the evidence standard; together with a shared ticketing outage known mainly from media relays, they show that signal paths, catalogues, customer data and shared platforms are exposure points alongside institutions' own networks.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5" name="evidence-interpretation"/>
          <p:cNvSpPr txBox="1"/>
          <p:nvPr/>
        </p:nvSpPr>
        <p:spPr>
          <a:xfrm>
            <a:off x="457200" y="1847088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Threat pathways (patterns, not attacks):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 P1 ransomware and extortion; P2 shared ticketing, payment and SaaS integrations; P3 broadcast signal and content insertion; P4 hacktivist DDoS and information manipulation around conflicts, elections and live events; P5 content theft; P6 personal-data exposure and litigation.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ENISA found broadcast media mostly faced hacktivist disruption of public-facing sites in 2025; the EEAS counted 540 manipulation incidents, including impersonation of established outlets.</a:t>
            </a:r>
            <a:endParaRPr lang="en-US" sz="1350" dirty="0"/>
          </a:p>
        </p:txBody>
      </p:sp>
      <p:graphicFrame>
        <p:nvGraphicFramePr>
          <p:cNvPr id="3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47088"/>
          <a:ext cx="7251192" cy="914400"/>
        </p:xfrm>
        <a:graphic>
          <a:graphicData uri="http://schemas.openxmlformats.org/drawingml/2006/table">
            <a:tbl>
              <a:tblPr/>
              <a:tblGrid>
                <a:gridCol w="2244417"/>
                <a:gridCol w="1812798"/>
                <a:gridCol w="2071769"/>
                <a:gridCol w="1122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incident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Subsector and geography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consequence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Dresden State Art Collections attack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museums; Germany, January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shop, visitor services and card payment down; police special commission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Institution, ministry, prosecutor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Radio stream hijacks via streaming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Broadcast radio; United States, November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output replaced; regulator warning and new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 order records the attacks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Satellite feed hijacks of news channels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Broadcast TV; Pakistan, March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Unauthorised content aired; national CERT investigation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Broadcaster statement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Spotify catalogue scraping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 streaming; global, December 2025 - April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Worldwide injunction; reported USD 322 million judgment unlikely to be paid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Court order; amount media-reported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Live-events group breach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Ticketing and live events; United States, October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and health data notified to a regulator; class action within a week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 register; court complaint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8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weight counterparty reviews toward shared suppliers, live-output equipment and catalogue protection, not only the counterparty's own network.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only one incident is in the EU and none in the UK has a retrievable primary statement; the March 2026 shared ticketing ransomware is excluded as a named incident because its detail is media-reported; hacktivist claims are excluded.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Financial Impact: Media &amp; Cultural Services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Public financial evidence is sparse and cannot be added up; where quantified, losses come through curtailed revenue lines and slow recovery, and in one case were converted into additional debt.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5" name="evidence-interpretation"/>
          <p:cNvSpPr txBox="1"/>
          <p:nvPr/>
        </p:nvSpPr>
        <p:spPr>
          <a:xfrm>
            <a:off x="457200" y="1847088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Evidence base: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 company filings from a US newspaper group and a Japanese publisher, British Library annual reports, institution notices and a court record; the two company attacks predate the period, their disclosures do not.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Transmission is conditional: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advertising and subscription dips, ticketing outages with phishing follow-on, lender waivers, insurance recoveries that lag costs, and public funding that absorbs cultural-body losses.</a:t>
            </a:r>
            <a:endParaRPr lang="en-US" sz="1350" dirty="0"/>
          </a:p>
        </p:txBody>
      </p:sp>
      <p:graphicFrame>
        <p:nvGraphicFramePr>
          <p:cNvPr id="4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47088"/>
          <a:ext cx="7251192" cy="914400"/>
        </p:xfrm>
        <a:graphic>
          <a:graphicData uri="http://schemas.openxmlformats.org/drawingml/2006/table">
            <a:tbl>
              <a:tblPr/>
              <a:tblGrid>
                <a:gridCol w="1747275"/>
                <a:gridCol w="4018733"/>
                <a:gridCol w="1485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disruption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Museum network shop and ticketing down; shared-provider ticketing lost for 10 days or more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Observed; ticketing duration media-reported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3.7 million expensed by a US newspaper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Observed, one 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and cash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10.5 million cash-flow loss; JPY 8.3 billion sales effect at a Japanese publisher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Observed, earlier attacks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11.3 million added to debt through lender and landlord waivers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Observed, one borrower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and rebuild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library catalogue rebuilt after about 26 months; web archive still pending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 from primary 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and intellectual property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USD 322 million judgment unlikely to be collected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Media-reported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6.8 million claimed; recoveries lag costs; 35% of UK charities insured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and litigation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Investigations opened; live-events class action filed after a regulator notice; no penalty in period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8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watch for unscheduled waiver or amendment requests, merchant-volume drops and fraud alerts at media and cultural counterparties after a sector incident.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values differ in currency, statistic type and population and are not summed; no heritage or public-trust loss is monetised; absence of disclosure is not zero loss.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Financial Impact: Worst-Case Scenarios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Three distinct stress pathways - a shared platform failure, a targeted hit on a broadcaster or national institution, and a compromised shared supplier - converge on lost revenue channels, with recovery ranging from hours to years; they are stress narratives, not forecasts or loss estimates.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graphicFrame>
        <p:nvGraphicFramePr>
          <p:cNvPr id="5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77295" cy="914400"/>
        </p:xfrm>
        <a:graphic>
          <a:graphicData uri="http://schemas.openxmlformats.org/drawingml/2006/table">
            <a:tbl>
              <a:tblPr/>
              <a:tblGrid>
                <a:gridCol w="1650336"/>
                <a:gridCol w="3300672"/>
                <a:gridCol w="3300672"/>
                <a:gridCol w="30256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Common digital dependency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Targeted operational disruption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Supply-chain concentration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Multi-hour cloud, delivery-network or shared satellite-operator failure during a live event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Ransomware, intrusion or output hijack at a broadcaster or national institution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 of a shared ticketing, collection, newsroom or playout supplier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Propagation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Streaming, game, ticketing and news services fail at once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Playout, ticketing and payment isolated; hijacked output reaches audiences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supplier removes sales or tools at many institutions at once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transmission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live audiences, advertiser make-goods, refunds, correlated revenue dips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loss, rebuild cost, regulatory scrutiny, funding draw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Correlated ticketing loss, phishing and payment fraud, supplier disputes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signposts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status incidents; DDoS spikes before live events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 device warnings; election and conflict calendars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breach notices; prosecutor statements naming a provider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Limiting conditions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Multi-provider delivery; both 2025 provider failures restored within a 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Segregated playout and security; manual fallback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 ticket offices and on-site sales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709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Evidence: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a 14.5-hour cloud regional disruption and a 6-hour delivery-network outage in late 2025; Dresden, US newspaper and British Library recovery records; one ticketing provider serving France's national monuments network.</a:t>
            </a:r>
            <a:endParaRPr lang="en-US" sz="1300" dirty="0"/>
          </a:p>
        </p:txBody>
      </p:sp>
      <p:sp>
        <p:nvSpPr>
          <p:cNvPr id="7" name="interpretation"/>
          <p:cNvSpPr txBox="1"/>
          <p:nvPr/>
        </p:nvSpPr>
        <p:spPr>
          <a:xfrm>
            <a:off x="6217920" y="4709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Interpretation: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scenario 1 is broad and short, scenario 2 narrow and deep, scenario 3 broad and deep through one supplier.</a:t>
            </a:r>
            <a:endParaRPr lang="en-US" sz="1300" dirty="0"/>
          </a:p>
        </p:txBody>
      </p:sp>
      <p:sp>
        <p:nvSpPr>
          <p:cNvPr id="8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9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ask which major counterparties share the same delivery, ticketing and playout suppliers, and whether rights-sensitive live events have tested fallback.</a:t>
            </a:r>
            <a:endParaRPr lang="en-US" sz="1250" dirty="0"/>
          </a:p>
        </p:txBody>
      </p:sp>
      <p:sp>
        <p:nvSpPr>
          <p:cNvPr id="10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no probabilities are assigned because no defensible external basis exists; durations are illustrative and no 2026 cloud or delivery-network outage of comparable scale was found.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Case Study: Dresden State Art Collections Cyberattack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 deliberate attack on Saxony's state museum network removed the online shop, visitor services and card payment while the security system kept running and museums stayed open; information channels returned within days and revenue channels recovered last.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5" name="evidence-interpretation"/>
          <p:cNvSpPr txBox="1"/>
          <p:nvPr/>
        </p:nvSpPr>
        <p:spPr>
          <a:xfrm>
            <a:off x="457200" y="1847088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Evidence base: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 institution and ministry releases of 22 and 29 January 2026, a prosecutor and state police release of 19 February 2026 and a ministerial answer relayed in July 2026; selected as the recent EU case with the most complete primary chronology.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Interpretation: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activity over several days before containment points to detection lag; information channels returned within a week, transactional channels within about a month (media-reported).</a:t>
            </a:r>
            <a:endParaRPr lang="en-US" sz="1350" dirty="0"/>
          </a:p>
        </p:txBody>
      </p:sp>
      <p:graphicFrame>
        <p:nvGraphicFramePr>
          <p:cNvPr id="6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47088"/>
          <a:ext cx="7251192" cy="914400"/>
        </p:xfrm>
        <a:graphic>
          <a:graphicData uri="http://schemas.openxmlformats.org/drawingml/2006/table">
            <a:tbl>
              <a:tblPr/>
              <a:tblGrid>
                <a:gridCol w="1747275"/>
                <a:gridCol w="1310456"/>
                <a:gridCol w="41934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Intrusion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17-21 January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activity over several days, per a ministerial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January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parts of the digital infrastructure hit, per the ministry; crisis team formed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January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 and visitor services offline; security system unaffected; museums open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restoration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26-29 January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back after 5 days; telephone restored; cash-only sales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February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police special commission under prosecutor direction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Transactional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20 February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booking reported available again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8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treat card-payment and online-sales loss at public cultural counterparties as a foreseeable multi-week event, and ask how merchant and donor flows continue.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no cost, data loss, insurance, attacker or access vector was disclosed; a reported link to planned theft is unconfirmed; the case concerns one German museum network.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Systemic Dependencies &amp; Regulatory Outlook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Media and culture are not a named sector under NIS2, the CER Directive or the UK NIS Regulations, so resilience depends on regulated providers, product rules and media-specific law, while shared ticketing, cloud and signal paths concentrate risk that no regime addresses through the sector itself.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5" name="evidence-interpretation"/>
          <p:cNvSpPr txBox="1"/>
          <p:nvPr/>
        </p:nvSpPr>
        <p:spPr>
          <a:xfrm>
            <a:off x="457200" y="1847088"/>
            <a:ext cx="3794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Evidenced dependency chains: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 shared ticketing -&gt; national monuments network; cloud region -&gt; streaming and online games; delivery network -&gt; news and ticketing sites; streaming encoders and satellite uplinks -&gt; live output.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Interpretation: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in-period movement came from AI transparency, product reporting and a US broadcast rule, not from horizontal cyber law; the UK bill is not yet law.</a:t>
            </a:r>
            <a:endParaRPr lang="en-US" sz="1350" dirty="0"/>
          </a:p>
        </p:txBody>
      </p:sp>
      <p:graphicFrame>
        <p:nvGraphicFramePr>
          <p:cNvPr id="7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47088"/>
          <a:ext cx="7251192" cy="914400"/>
        </p:xfrm>
        <a:graphic>
          <a:graphicData uri="http://schemas.openxmlformats.org/drawingml/2006/table">
            <a:tbl>
              <a:tblPr/>
              <a:tblGrid>
                <a:gridCol w="1833635"/>
                <a:gridCol w="2083676"/>
                <a:gridCol w="33338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 for Media &amp; Cultural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NIS2 Directive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Binding via national law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Reached through delivery-network, cloud, managed-service and communications providers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 Directive (entity resilience)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Binding; entities identified by July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media or culture sector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 Media Freedom 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since August 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 journalistic sources against intrusive surveillance software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Act Article 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since August 2026; older systems from December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Deepfake disclosure; AI text on public-interest matters exempt if under editorial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Resilience 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since September 2026; full from December 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Broadcast equipment, connected TVs, apps and games as products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advertising Regulation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since October 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Labelling and targeting consent for publishers and ad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Cyber Security and Resilience Bill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 at Lords report 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reach managed service providers and designated suppliers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alerting order (comparative)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Adopted June 2026; compliance 60 days after Federal Register publication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Password, patch and segmentation baseline for content insertion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8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ask about supplier regulation status, AI-content controls and product reporting in counterparty assessments, and track the UK bill and the December 2026 AI deadline.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national NIS2 designations and national journalistic data-protection derogations were not surveyed; whether UK broadcast transmission falls under telecoms security duties is unconfirmed.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Mitigation Strategies &amp; Security Framework</a:t>
            </a:r>
            <a:endParaRPr lang="en-US" sz="2400" dirty="0"/>
          </a:p>
        </p:txBody>
      </p:sp>
      <p:sp>
        <p:nvSpPr>
          <p:cNvPr id="3" name="conclusion"/>
          <p:cNvSpPr txBox="1"/>
          <p:nvPr/>
        </p:nvSpPr>
        <p:spPr>
          <a:xfrm>
            <a:off x="457200" y="8229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Six evidence-linked priorities address the pathways: map shared front-of-house suppliers, harden live-output equipment, segregate and test recovery, contain payment fraud after data exposure, protect brand provenance, and align credit and funding with long recovery.</a:t>
            </a:r>
            <a:endParaRPr lang="en-US" sz="1500" dirty="0"/>
          </a:p>
        </p:txBody>
      </p:sp>
      <p:sp>
        <p:nvSpPr>
          <p:cNvPr id="4" name="hairline"/>
          <p:cNvSpPr/>
          <p:nvPr/>
        </p:nvSpPr>
        <p:spPr>
          <a:xfrm>
            <a:off x="457200" y="1719072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graphicFrame>
        <p:nvGraphicFramePr>
          <p:cNvPr id="8" name="evide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77295" cy="914400"/>
        </p:xfrm>
        <a:graphic>
          <a:graphicData uri="http://schemas.openxmlformats.org/drawingml/2006/table">
            <a:tbl>
              <a:tblPr/>
              <a:tblGrid>
                <a:gridCol w="2506066"/>
                <a:gridCol w="4176776"/>
                <a:gridCol w="2297227"/>
                <a:gridCol w="22972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and horizon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question for 1LoD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completion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trigger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Shared platforms (0-6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ticketing, payment, cloud and delivery providers do top counterparties share?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 map; fallback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incident or prosecutor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 Live-output integrity (0-6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broadcasters meet a password, patch and segmentation baseline for content insertion?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attestation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 device warning; hijack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Segregation and recovery (3-12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security, building and playout systems separate from corporate IT?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Segregation and restoration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incident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 Payment fraud (0-3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fraud typologies monitored after ticket-holder data exposure?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and verification procedure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Ticketing or subscriber data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Provenance (6-12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are brand impersonation and AI-generated content detected and labelled?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 and labelling procedure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Manipulation alert; election calendar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A6 Credit and funding (6-12 months)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recovery time, insurance and waiver triggers apply to media borrowers?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objectives; insurance 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Waiver or amendment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846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Evidence base: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the US alerting order, Dresden and British Library recovery records, ticketing data exposure, EEAS impersonation findings, lender waivers at a US newspaper group and UK charity insurance coverage.</a:t>
            </a:r>
            <a:endParaRPr lang="en-US" sz="1300" dirty="0"/>
          </a:p>
        </p:txBody>
      </p:sp>
      <p:sp>
        <p:nvSpPr>
          <p:cNvPr id="7" name="interpretation"/>
          <p:cNvSpPr txBox="1"/>
          <p:nvPr/>
        </p:nvSpPr>
        <p:spPr>
          <a:xfrm>
            <a:off x="6217920" y="4846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Frameworks are reference vocabularies, not law: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NIST CSF 2.0, ISO/IEC 27001 and 27036, EBU R 148, C2PA content provenance and PCI DSS v4.0.1.</a:t>
            </a:r>
            <a:endParaRPr lang="en-US" sz="1300" dirty="0"/>
          </a:p>
        </p:txBody>
      </p:sp>
      <p:sp>
        <p:nvSpPr>
          <p:cNvPr id="8" name="hairline"/>
          <p:cNvSpPr/>
          <p:nvPr/>
        </p:nvSpPr>
        <p:spPr>
          <a:xfrm>
            <a:off x="457200" y="5760720"/>
            <a:ext cx="1127729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9" name="implication"/>
          <p:cNvSpPr txBox="1"/>
          <p:nvPr/>
        </p:nvSpPr>
        <p:spPr>
          <a:xfrm>
            <a:off x="457200" y="5852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Management implication: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give each priority a 1LoD owner and a dated completion artefact, and escalate to the Risk Committee when a monitoring trigger fires.</a:t>
            </a:r>
            <a:endParaRPr lang="en-US" sz="1250" dirty="0"/>
          </a:p>
        </p:txBody>
      </p:sp>
      <p:sp>
        <p:nvSpPr>
          <p:cNvPr id="10" name="limitation"/>
          <p:cNvSpPr txBox="1"/>
          <p:nvPr/>
        </p:nvSpPr>
        <p:spPr>
          <a:xfrm>
            <a:off x="6217920" y="585216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Limitation: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actions are sector priorities drawn from public evidence, not findings about any institution's controls, losses or risk appetite.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dence Emerald">
  <a:themeElements>
    <a:clrScheme name="Evidence Emerald">
      <a:dk1>
        <a:srgbClr val="1F2328"/>
      </a:dk1>
      <a:lt1>
        <a:srgbClr val="FFFFFF"/>
      </a:lt1>
      <a:dk2>
        <a:srgbClr val="57606A"/>
      </a:dk2>
      <a:lt2>
        <a:srgbClr val="F2F4F5"/>
      </a:lt2>
      <a:accent1>
        <a:srgbClr val="00915E"/>
      </a:accent1>
      <a:accent2>
        <a:srgbClr val="1F2328"/>
      </a:accent2>
      <a:accent3>
        <a:srgbClr val="57606A"/>
      </a:accent3>
      <a:accent4>
        <a:srgbClr val="D0D7DE"/>
      </a:accent4>
      <a:accent5>
        <a:srgbClr val="00915E"/>
      </a:accent5>
      <a:accent6>
        <a:srgbClr val="57606A"/>
      </a:accent6>
      <a:hlink>
        <a:srgbClr val="00915E"/>
      </a:hlink>
      <a:folHlink>
        <a:srgbClr val="57606A"/>
      </a:folHlink>
    </a:clrScheme>
    <a:fontScheme name="Evidence Emera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and Cultural Services cyber sectorial analysis</dc:title>
  <dc:subject>PptxGenJS Presentation</dc:subject>
  <dc:creator>PptxGenJS</dc:creator>
  <cp:lastModifiedBy>PptxGenJS</cp:lastModifiedBy>
  <cp:revision>1</cp:revision>
  <dcterms:created xsi:type="dcterms:W3CDTF">2026-10-15T17:01:27Z</dcterms:created>
  <dcterms:modified xsi:type="dcterms:W3CDTF">2026-10-15T17:01:27Z</dcterms:modified>
</cp:coreProperties>
</file>