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DIT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Sector Intelligence Cover</a:t>
            </a:r>
            <a:endParaRPr lang="en-US" sz="1400" dirty="0"/>
          </a:p>
        </p:txBody>
      </p:sp>
      <p:sp>
        <p:nvSpPr>
          <p:cNvPr id="3" name="sector"/>
          <p:cNvSpPr txBox="1"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Public Works</a:t>
            </a:r>
            <a:endParaRPr lang="en-US" sz="4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240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Cyber Resilience &amp; Credit Intelligence</a:t>
            </a:r>
            <a:endParaRPr lang="en-US" sz="2600" dirty="0"/>
          </a:p>
        </p:txBody>
      </p:sp>
      <p:sp>
        <p:nvSpPr>
          <p:cNvPr id="5" name="migrated"/>
          <p:cNvSpPr txBox="1"/>
          <p:nvPr/>
        </p:nvSpPr>
        <p:spPr>
          <a:xfrm>
            <a:off x="548640" y="2926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edition - evidence as of 14 October 2026; no research update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10642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cover_metadata"/>
          <p:cNvSpPr txBox="1"/>
          <p:nvPr/>
        </p:nvSpPr>
        <p:spPr>
          <a:xfrm>
            <a:off x="548640" y="374904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period: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September 2025 to 14 October 2026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scope: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global, primary focus EU, EEA and UK; North America and Asia for comparison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cut-off: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October 2026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specified in source edition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1.0-M (migrated from the baseline seven-slide edition)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228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Executive Sector Risk Snapshot</a:t>
            </a:r>
            <a:endParaRPr lang="en-US" sz="1400" dirty="0"/>
          </a:p>
        </p:txBody>
      </p:sp>
      <p:sp>
        <p:nvSpPr>
          <p:cNvPr id="3" name="section"/>
          <p:cNvSpPr txBox="1"/>
          <p:nvPr/>
        </p:nvSpPr>
        <p:spPr>
          <a:xfrm>
            <a:off x="4846320" y="228600"/>
            <a:ext cx="688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 Executive intelligence  |  Migrated 1.0-M</a:t>
            </a:r>
            <a:endParaRPr lang="en-US" sz="1050" dirty="0"/>
          </a:p>
        </p:txBody>
      </p:sp>
      <p:sp>
        <p:nvSpPr>
          <p:cNvPr id="4" name="headline"/>
          <p:cNvSpPr txBox="1"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Public Works shows provisional High cyber and third-party exposure that reaches lenders mainly through contractor liquidity; fraud and governance cannot be assessed from the source edition.</a:t>
            </a:r>
            <a:endParaRPr lang="en-US" sz="2000" dirty="0"/>
          </a:p>
        </p:txBody>
      </p:sp>
      <p:graphicFrame>
        <p:nvGraphicFramePr>
          <p:cNvPr id="3" name="visual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2169871"/>
                <a:gridCol w="1270102"/>
                <a:gridCol w="1852574"/>
                <a:gridCol w="1111910"/>
                <a:gridCol w="487009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justification (source edition)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assessable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 in source edition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cyber-enabled payment fraud covered (one police alert); wider fraud (Q10) not covered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/ 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 of 1,140 industrial ransomware claims in Q2 2026; third of all sectors over 12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resilience / TPRM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Best-documented disruptions spread through shared owner IT and a public-sector supplier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/ operating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assessable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 in source edition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Q13 not covered; one auditor finding at a public owner is not sector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"/>
          <p:cNvSpPr txBox="1"/>
          <p:nvPr/>
        </p:nvSpPr>
        <p:spPr>
          <a:xfrm>
            <a:off x="457200" y="379476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sector messages: (1) shared digital layers are the best-documented propagation pathway; (2) time-sensitive site operations turn IT outages into schedule loss; (3) regulation reaches construction indirectly through owners, procurement, product and data rules.</a:t>
            </a:r>
            <a:endParaRPr lang="en-US" sz="1250" dirty="0"/>
          </a:p>
        </p:txBody>
      </p:sp>
      <p:sp>
        <p:nvSpPr>
          <p:cNvPr id="7" name="significance"/>
          <p:cNvSpPr txBox="1"/>
          <p:nvPr/>
        </p:nvSpPr>
        <p:spPr>
          <a:xfrm>
            <a:off x="4279392" y="379476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direction: rising in cross-sector leak-site counts (industrial claims up 12% quarter on quarter; all-sector victims up 24.9% year on year); no construction-specific baseline exists.</a:t>
            </a:r>
            <a:endParaRPr lang="en-US" sz="1250" dirty="0"/>
          </a:p>
        </p:txBody>
      </p:sp>
      <p:sp>
        <p:nvSpPr>
          <p:cNvPr id="8" name="credit_lens"/>
          <p:cNvSpPr txBox="1"/>
          <p:nvPr/>
        </p:nvSpPr>
        <p:spPr>
          <a:xfrm>
            <a:off x="8101584" y="379476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Lens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consequential credit implications: owner payment constraint and programme delay strain contractor working capital; construction leads company insolvency counts in England and Wales (a count, not a rate).</a:t>
            </a:r>
            <a:endParaRPr lang="en-US" sz="1250" dirty="0"/>
          </a:p>
        </p:txBody>
      </p:sp>
      <p:sp>
        <p:nvSpPr>
          <p:cNvPr id="9" name="limitation"/>
          <p:cNvSpPr txBox="1"/>
          <p:nvPr/>
        </p:nvSpPr>
        <p:spPr>
          <a:xfrm>
            <a:off x="457200" y="53766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ratings: no approved rubric; cross-sector comparison (Q14): not covered in source edition; confidence capped at Medium; public-owner cases over-represented.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5925312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source_strip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S-005, S-007, S-010, S-026, S-031 (Tier 1); S-018, S-020, S-021 (Tier 2) - Period: Apr 2025-Oct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228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Sector Anatomy: Key Operations &amp; Dependencies</a:t>
            </a:r>
            <a:endParaRPr lang="en-US" sz="1400" dirty="0"/>
          </a:p>
        </p:txBody>
      </p:sp>
      <p:sp>
        <p:nvSpPr>
          <p:cNvPr id="3" name="section"/>
          <p:cNvSpPr txBox="1"/>
          <p:nvPr/>
        </p:nvSpPr>
        <p:spPr>
          <a:xfrm>
            <a:off x="4846320" y="228600"/>
            <a:ext cx="688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 Executive intelligence  |  Migrated 1.0-M</a:t>
            </a:r>
            <a:endParaRPr lang="en-US" sz="1050" dirty="0"/>
          </a:p>
        </p:txBody>
      </p:sp>
      <p:sp>
        <p:nvSpPr>
          <p:cNvPr id="4" name="headline"/>
          <p:cNvSpPr txBox="1"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depend on owner approvals and payments, shared project platforms on third-party cloud, ERP-reliant materials suppliers and exposed public-works OT - each a potential single point of failure.</a:t>
            </a:r>
            <a:endParaRPr lang="en-US" sz="2000" dirty="0"/>
          </a:p>
        </p:txBody>
      </p:sp>
      <p:graphicFrame>
        <p:nvGraphicFramePr>
          <p:cNvPr id="4" name="visual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269480" cy="914400"/>
        </p:xfrm>
        <a:graphic>
          <a:graphicData uri="http://schemas.openxmlformats.org/drawingml/2006/table">
            <a:tbl>
              <a:tblPr/>
              <a:tblGrid>
                <a:gridCol w="1730959"/>
                <a:gridCol w="1730959"/>
                <a:gridCol w="2120494"/>
                <a:gridCol w="168798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Concentration pathway (evidence)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exposed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Public-sector project owners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consent, repairs ordering, supplier payment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shared IT estate served three London boroughs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Contractors awaiting consents and payment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Public-sector software suppliers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HR and records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supplier served a majority of Swedish municipalities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Owners, contractors, data subjects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Construction-management SaaS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Drawings, RFIs, permits-to-work, valuations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platform: 17,850 customers hosted on third-party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Contractors, owners, consultants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materials and equipment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ERP-driven supply to tight timelines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tier repeatedly targeted by ransomware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Programmes on just-in-time materials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Public-works operators (OT)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and plant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small operators with internet-exposed controllers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Owners, operators, maintenance contractors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chains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payments to subcontractors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email and bank-detail changes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Contractors, subcontractors, their banks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_significance_credit"/>
          <p:cNvSpPr txBox="1"/>
          <p:nvPr/>
        </p:nvSpPr>
        <p:spPr>
          <a:xfrm>
            <a:off x="8001000" y="1481328"/>
            <a:ext cx="37307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Subsectors in scope: construction companies, civil engineering, public works, engineering and project management, building materials, construction technology, building automation and public project owners. Only dependencies evidenced in the source edition are shown.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at an owner or shared platform stops several firms at once: the best-documented case halted planning for about 15 weeks.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Lens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which owners, platforms and suppliers a borrower depends on, and whether it could value, certify and invoice without them.</a:t>
            </a:r>
            <a:endParaRPr lang="en-US" sz="1300" dirty="0"/>
          </a:p>
        </p:txBody>
      </p:sp>
      <p:sp>
        <p:nvSpPr>
          <p:cNvPr id="7" name="limitation"/>
          <p:cNvSpPr txBox="1"/>
          <p:nvPr/>
        </p:nvSpPr>
        <p:spPr>
          <a:xfrm>
            <a:off x="457200" y="53766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Substitutability, bottleneck depth and platform market shares were not assessed in the source edition; no in-period building-automation incident was identified.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5925312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source_strip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S-005, S-006, S-010, S-013, S-026, S-027 (Tier 1); S-020 (Tier 2) - Period: Aug 2025-Sep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228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Cyber Threat Landscape &amp; Attack Scenarios</a:t>
            </a:r>
            <a:endParaRPr lang="en-US" sz="1400" dirty="0"/>
          </a:p>
        </p:txBody>
      </p:sp>
      <p:sp>
        <p:nvSpPr>
          <p:cNvPr id="3" name="section"/>
          <p:cNvSpPr txBox="1"/>
          <p:nvPr/>
        </p:nvSpPr>
        <p:spPr>
          <a:xfrm>
            <a:off x="4846320" y="228600"/>
            <a:ext cx="688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- Threat and exposure intelligence  |  Migrated 1.0-M</a:t>
            </a:r>
            <a:endParaRPr lang="en-US" sz="1050" dirty="0"/>
          </a:p>
        </p:txBody>
      </p:sp>
      <p:sp>
        <p:nvSpPr>
          <p:cNvPr id="4" name="headline"/>
          <p:cNvSpPr txBox="1"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threat patterns drive sector exposure: phishing and exposed remote access open the door, while shared IT, OT and payment chains spread the impact.</a:t>
            </a:r>
            <a:endParaRPr lang="en-US" sz="2000" dirty="0"/>
          </a:p>
        </p:txBody>
      </p:sp>
      <p:graphicFrame>
        <p:nvGraphicFramePr>
          <p:cNvPr id="5" name="visual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269480" cy="914400"/>
        </p:xfrm>
        <a:graphic>
          <a:graphicData uri="http://schemas.openxmlformats.org/drawingml/2006/table">
            <a:tbl>
              <a:tblPr/>
              <a:tblGrid>
                <a:gridCol w="1903781"/>
                <a:gridCol w="1730959"/>
                <a:gridCol w="1990649"/>
                <a:gridCol w="16440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(mechanism)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 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evidence, last 12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consequence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Ransomware and extortion (targeted disruption)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and data theft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 construction claims in Q2 2026; Femern contractor; SANKO TECHNO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ERP, scheduling and site access halted; about 24 days average downtime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Identity and edge access (other: entry route)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Phishing; VPN without MFA; unpatched edge and backup servers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baseline: phishing about 60%, exploitation 21.3% of initial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exfiltration in just over two hours in some Akira cases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Shared IT and SaaS (common dependency)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Compromise of a shared estate or supplier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Kensington and Chelsea shared IT; Miljödata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Multi-organisation outage and data notifications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OT, field and building systems (targeted disruption)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Internet-exposed PLCs and HMIs; weak passwords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Minnesota water systems; Bremanger dam (contextual)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manipulation risk; precautionary isolation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Payment-chain fraud (supply-chain concentration)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email compromise; bank-detail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Australian police alert on construction BEC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Diverted stage payments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_significance_credit"/>
          <p:cNvSpPr txBox="1"/>
          <p:nvPr/>
        </p:nvSpPr>
        <p:spPr>
          <a:xfrm>
            <a:off x="8001000" y="1481328"/>
            <a:ext cx="37307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named incidents met the source edition's evidence standard over the year. Last 30 days before cut-off: the Femern Link Contractors incident (12-13 Oct 2026) and the Miljödata GDPR fine (22 Sep 2026).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and P5 propagate beyond the victim to owners, contractors and payment flows; P1 and P4 stop time-sensitive operations.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Lens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borrower discussion towards propagation - shared services, platforms, exposed OT and payment changes - rather than counting ransomware claims.</a:t>
            </a:r>
            <a:endParaRPr lang="en-US" sz="1300" dirty="0"/>
          </a:p>
        </p:txBody>
      </p:sp>
      <p:sp>
        <p:nvSpPr>
          <p:cNvPr id="7" name="limitation"/>
          <p:cNvSpPr txBox="1"/>
          <p:nvPr/>
        </p:nvSpPr>
        <p:spPr>
          <a:xfrm>
            <a:off x="457200" y="53766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are unranked and impact levels were not rated in the source edition; developments in the 30 days after 14 Oct 2026: not covered in source edition.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5925312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source_strip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S-001, S-010, S-012, S-013, S-015, S-022, S-023, S-026 (Tier 1); S-018, S-020 (Tier 2) - Period: Jul 2024-Oct 2026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228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Geopolitical Cyber Threat Outlook</a:t>
            </a:r>
            <a:endParaRPr lang="en-US" sz="1400" dirty="0"/>
          </a:p>
        </p:txBody>
      </p:sp>
      <p:sp>
        <p:nvSpPr>
          <p:cNvPr id="3" name="section"/>
          <p:cNvSpPr txBox="1"/>
          <p:nvPr/>
        </p:nvSpPr>
        <p:spPr>
          <a:xfrm>
            <a:off x="4846320" y="228600"/>
            <a:ext cx="688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- Threat and exposure intelligence  |  Migrated 1.0-M</a:t>
            </a:r>
            <a:endParaRPr lang="en-US" sz="1050" dirty="0"/>
          </a:p>
        </p:txBody>
      </p:sp>
      <p:sp>
        <p:nvSpPr>
          <p:cNvPr id="4" name="headline"/>
          <p:cNvSpPr txBox="1"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exposure is evidenced only in fragments: exposed public-works OT faces state-linked pressure, while construction firms are more likely collateral than primary targets.</a:t>
            </a:r>
            <a:endParaRPr lang="en-US" sz="2000" dirty="0"/>
          </a:p>
        </p:txBody>
      </p:sp>
      <p:graphicFrame>
        <p:nvGraphicFramePr>
          <p:cNvPr id="6" name="visual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269480" cy="914400"/>
        </p:xfrm>
        <a:graphic>
          <a:graphicData uri="http://schemas.openxmlformats.org/drawingml/2006/table">
            <a:tbl>
              <a:tblPr/>
              <a:tblGrid>
                <a:gridCol w="1384402"/>
                <a:gridCol w="2595982"/>
                <a:gridCol w="1990649"/>
                <a:gridCol w="12984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State-linked signal (source edition)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Attribution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pathway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 and Canada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 judged Iranian cyber retaliation very likely after Feb 2026 strikes; malicious activity at more than 30 Minnesota water systems (Jul 2026)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Bulletin is an estimative judgement; state made no attribution; media-reported Iran link is unconfirmed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Internet-exposed controllers at public-works operators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Bremanger dam outflow valves opened for about four hours (Apr 2025)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service linked it to Russian methods (Aug 2025); contextual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passwords and poor IT/OT separation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Denmark and Germany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Femern Link Contractors cyber incident (Oct 2026)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attribution disclosed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Cross-border infrastructure programme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and UK wider 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geopolitical analysis (Q07)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 in source edition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 in source edition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_significance_credit"/>
          <p:cNvSpPr txBox="1"/>
          <p:nvPr/>
        </p:nvSpPr>
        <p:spPr>
          <a:xfrm>
            <a:off x="8001000" y="1481328"/>
            <a:ext cx="37307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edition fragments: one national threat bulletin, two state statements, one regulator notice and one owner statement; no conflict-driven campaign against construction firms was documented.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State-linked intent towards poorly secured infrastructure reaches the public-works assets that contractors build, operate and maintain.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Lens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public-works and infrastructure borrowers, ask about OT inventory, removal of internet exposure and IT/OT segregation.</a:t>
            </a:r>
            <a:endParaRPr lang="en-US" sz="1300" dirty="0"/>
          </a:p>
        </p:txBody>
      </p:sp>
      <p:sp>
        <p:nvSpPr>
          <p:cNvPr id="7" name="limitation"/>
          <p:cNvSpPr txBox="1"/>
          <p:nvPr/>
        </p:nvSpPr>
        <p:spPr>
          <a:xfrm>
            <a:off x="457200" y="53766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 in source edition: dedicated geopolitical analysis (Q07), exposed-region view and conflict-driven supply-chain exposure; attribution is preliminary or contextual.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5925312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source_strip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S-001, S-012, S-013, S-017, S-025 (Tier 1); S-018 (Tier 2); S-014 (Tier 3) - Period: Apr 2025-Oct 2026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228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Major Cyber Incidents &amp; Lessons Learned</a:t>
            </a:r>
            <a:endParaRPr lang="en-US" sz="1400" dirty="0"/>
          </a:p>
        </p:txBody>
      </p:sp>
      <p:sp>
        <p:nvSpPr>
          <p:cNvPr id="3" name="section"/>
          <p:cNvSpPr txBox="1"/>
          <p:nvPr/>
        </p:nvSpPr>
        <p:spPr>
          <a:xfrm>
            <a:off x="4846320" y="228600"/>
            <a:ext cx="688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- Threat and exposure intelligence  |  Migrated 1.0-M</a:t>
            </a:r>
            <a:endParaRPr lang="en-US" sz="1050" dirty="0"/>
          </a:p>
        </p:txBody>
      </p:sp>
      <p:sp>
        <p:nvSpPr>
          <p:cNvPr id="4" name="headline"/>
          <p:cNvSpPr txBox="1"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in-period incidents show disruption reaching owners, suppliers and site operations; only one is documented well enough for a detailed case study.</a:t>
            </a:r>
            <a:endParaRPr lang="en-US" sz="2000" dirty="0"/>
          </a:p>
        </p:txBody>
      </p:sp>
      <p:graphicFrame>
        <p:nvGraphicFramePr>
          <p:cNvPr id="7" name="visual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2454250"/>
                <a:gridCol w="2321662"/>
                <a:gridCol w="2719426"/>
                <a:gridCol w="2122322"/>
                <a:gridCol w="165780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and documented weakness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Disruption and financial consequence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case (A2)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Femern Link Contractors, Oct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disclosed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Media-reported network shutdown and idle vessels; no cost disclosed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loss can reach marine and site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Monitor; evidence one to two days 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Kensington and Chelsea shared IT, Nov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error per auditor; fragmented legacy estate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about 15 weeks, revenues about six months; GBP 1.2m recovery costs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outages reach contractor consents and payments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1 (source edition)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Miljödata, Aug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Insufficient software checks; no real-time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2.2m people affected; SEK 1.8m GDPR 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Regulators also review the supplier's 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 in source edition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Minnesota water systems, Jul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Remotely accessible PLCs and HMIs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30 systems affected; no water-use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Exposed OT is reachable at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 in source edition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SANKO TECHNO, Aug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 at a subsidiary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Contained by network isolation; cost under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Segregation limits supplier spread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 in source edition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"/>
          <p:cNvSpPr txBox="1"/>
          <p:nvPr/>
        </p:nvSpPr>
        <p:spPr>
          <a:xfrm>
            <a:off x="457200" y="411480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Kensington and Chelsea case combines official chronology, disclosed cost and auditor findings; the auditor attributes it to human error.</a:t>
            </a:r>
            <a:endParaRPr lang="en-US" sz="1250" dirty="0"/>
          </a:p>
        </p:txBody>
      </p:sp>
      <p:sp>
        <p:nvSpPr>
          <p:cNvPr id="7" name="significance"/>
          <p:cNvSpPr txBox="1"/>
          <p:nvPr/>
        </p:nvSpPr>
        <p:spPr>
          <a:xfrm>
            <a:off x="4279392" y="411480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Owner-side and supplier incidents disrupt the consents, instructions and payments that contractors depend on, even when the contractor itself is not attacked.</a:t>
            </a:r>
            <a:endParaRPr lang="en-US" sz="1250" dirty="0"/>
          </a:p>
        </p:txBody>
      </p:sp>
      <p:sp>
        <p:nvSpPr>
          <p:cNvPr id="8" name="credit_lens"/>
          <p:cNvSpPr txBox="1"/>
          <p:nvPr/>
        </p:nvSpPr>
        <p:spPr>
          <a:xfrm>
            <a:off x="8101584" y="411480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Lens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owner digital disruption as foreseeable in contractor cash-flow and contract planning.</a:t>
            </a:r>
            <a:endParaRPr lang="en-US" sz="1250" dirty="0"/>
          </a:p>
        </p:txBody>
      </p:sp>
      <p:sp>
        <p:nvSpPr>
          <p:cNvPr id="9" name="limitation"/>
          <p:cNvSpPr txBox="1"/>
          <p:nvPr/>
        </p:nvSpPr>
        <p:spPr>
          <a:xfrm>
            <a:off x="457200" y="53766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and third detailed case studies: not covered in source edition. No contractor disclosed cost or delay; developments after 14 Oct 2026: not covered in source edition.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5925312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source_strip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S-001, S-005, S-006, S-007, S-008, S-010, S-012, S-013, S-015 (Tier 1); S-002 (Tier 3) - Period: Aug 2025-Oct 2026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228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Control Weaknesses &amp; Resilience Priorities</a:t>
            </a:r>
            <a:endParaRPr lang="en-US" sz="1400" dirty="0"/>
          </a:p>
        </p:txBody>
      </p:sp>
      <p:sp>
        <p:nvSpPr>
          <p:cNvPr id="3" name="section"/>
          <p:cNvSpPr txBox="1"/>
          <p:nvPr/>
        </p:nvSpPr>
        <p:spPr>
          <a:xfrm>
            <a:off x="4846320" y="228600"/>
            <a:ext cx="688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- Threat and exposure intelligence  |  Migrated 1.0-M</a:t>
            </a:r>
            <a:endParaRPr lang="en-US" sz="1050" dirty="0"/>
          </a:p>
        </p:txBody>
      </p:sp>
      <p:sp>
        <p:nvSpPr>
          <p:cNvPr id="4" name="headline"/>
          <p:cNvSpPr txBox="1"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weaknesses cluster in identity, segregation and monitoring; six priorities address the evidenced threat patterns.</a:t>
            </a:r>
            <a:endParaRPr lang="en-US" sz="2000" dirty="0"/>
          </a:p>
        </p:txBody>
      </p:sp>
      <p:graphicFrame>
        <p:nvGraphicFramePr>
          <p:cNvPr id="8" name="visual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269480" cy="914400"/>
        </p:xfrm>
        <a:graphic>
          <a:graphicData uri="http://schemas.openxmlformats.org/drawingml/2006/table">
            <a:tbl>
              <a:tblPr/>
              <a:tblGrid>
                <a:gridCol w="1644091"/>
                <a:gridCol w="2985516"/>
                <a:gridCol w="908914"/>
                <a:gridCol w="865022"/>
                <a:gridCol w="8650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 evidenced (source edition)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Patterns addressed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Map shared dependencies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shared estates and SaaS platforms (Kensington and Chelsea, Miljödata)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0-6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Identity and remote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without MFA, unpatched edge and backup (Akira); human error (Kensington and Chelsea)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P1, P2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0-3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Segregate OT and site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passwords, poor IT/OT separation (Bremanger); 81% of OT cases with weak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3-12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Confirm payment changes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email compromise and bank-detail replacement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0-3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 Contractual flow-down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duties under NIS2, CER and procurement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P3, P5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6-12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 Tested manual fallback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Time-sensitive operations stopped by IT loss (Femern, media-reported)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P1, P4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6-12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_significance_credit"/>
          <p:cNvSpPr txBox="1"/>
          <p:nvPr/>
        </p:nvSpPr>
        <p:spPr>
          <a:xfrm>
            <a:off x="8001000" y="1481328"/>
            <a:ext cx="37307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weaknesses: human error and a fragmented legacy estate; missing software checks and real-time monitoring; weak passwords and poor IT/OT separation; VPNs without MFA and unpatched backup servers.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few weaknesses enable both ransomware and OT manipulation, so a small set of capabilities prevents or contains most evidenced disruption.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Lens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priorities as discussion topics with borrowers; they are not a control audit or compliance finding.</a:t>
            </a:r>
            <a:endParaRPr lang="en-US" sz="1300" dirty="0"/>
          </a:p>
        </p:txBody>
      </p:sp>
      <p:sp>
        <p:nvSpPr>
          <p:cNvPr id="7" name="limitation"/>
          <p:cNvSpPr txBox="1"/>
          <p:nvPr/>
        </p:nvSpPr>
        <p:spPr>
          <a:xfrm>
            <a:off x="457200" y="53766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reflects source-edition claim confidence; no control-effectiveness data for any firm exist in the source edition.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5925312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source_strip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S-001, S-005, S-007, S-010, S-013, S-017, S-022, S-026, S-032 (Tier 1); S-018 (Tier 2) - Period: Apr 2025-Oct 2026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228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Regulatory &amp; Supervisory Resilience Expectations</a:t>
            </a:r>
            <a:endParaRPr lang="en-US" sz="1400" dirty="0"/>
          </a:p>
        </p:txBody>
      </p:sp>
      <p:sp>
        <p:nvSpPr>
          <p:cNvPr id="3" name="section"/>
          <p:cNvSpPr txBox="1"/>
          <p:nvPr/>
        </p:nvSpPr>
        <p:spPr>
          <a:xfrm>
            <a:off x="4846320" y="228600"/>
            <a:ext cx="688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- Resilience and financial implications  |  Migrated 1.0-M</a:t>
            </a:r>
            <a:endParaRPr lang="en-US" sz="1050" dirty="0"/>
          </a:p>
        </p:txBody>
      </p:sp>
      <p:sp>
        <p:nvSpPr>
          <p:cNvPr id="4" name="headline"/>
          <p:cNvSpPr txBox="1"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sits outside the direct scope of EU and UK cyber-resilience law; obligations reach contractors through owners, procurement, product and data rules, and US coverage is comparative only.</a:t>
            </a:r>
            <a:endParaRPr lang="en-US" sz="2000" dirty="0"/>
          </a:p>
        </p:txBody>
      </p:sp>
      <p:graphicFrame>
        <p:nvGraphicFramePr>
          <p:cNvPr id="9" name="visual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1342339"/>
                <a:gridCol w="3153766"/>
                <a:gridCol w="3557016"/>
                <a:gridCol w="322143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Building &amp; Public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NIS2 Directive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Binding via national law; 4 Member States referred (Jul 2026)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listed sector; owner duties flow 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 Directive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Binding via national law; identification due 17 Jul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Designated operators may impose resilience terms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Resilience 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Regulation; manufacturer reporting from 11 Sep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Building-automation and site-product makers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and UK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GDPR; UK GDPR and DPA 2018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regulation; UK domestic law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notification and fines across the chain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Procurement Act COM(2026) 590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and security-of-supply terms in tenders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 Regulations 2018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Binding regulation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not in 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Security and Resilience Bill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in House of Lords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reach MSPs and designated suppliers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PPN 014; Procurement Act 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note; statute (live 24 Feb 2025)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Essentials for central-government suppliers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Form 8-K Item 1.05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Binding for SEC registrants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Disclosure within four business days of materiality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cyber regulation and supervision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 in source edition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 in source edition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"/>
          <p:cNvSpPr txBox="1"/>
          <p:nvPr/>
        </p:nvSpPr>
        <p:spPr>
          <a:xfrm>
            <a:off x="457200" y="45720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of non-compliance in the source edition: penalties requested against four Member States; GDPR fines of SEK 1.8m (Miljödata) and GBP 4.4m (Interserve, historical).</a:t>
            </a:r>
            <a:endParaRPr lang="en-US" sz="1200" dirty="0"/>
          </a:p>
        </p:txBody>
      </p:sp>
      <p:sp>
        <p:nvSpPr>
          <p:cNvPr id="7" name="significance"/>
          <p:cNvSpPr txBox="1"/>
          <p:nvPr/>
        </p:nvSpPr>
        <p:spPr>
          <a:xfrm>
            <a:off x="4279392" y="45720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In-period pressure: CRA reporting began, CER identification fell due and an EU procurement reform with cyber terms was proposed.</a:t>
            </a:r>
            <a:endParaRPr lang="en-US" sz="1200" dirty="0"/>
          </a:p>
        </p:txBody>
      </p:sp>
      <p:sp>
        <p:nvSpPr>
          <p:cNvPr id="8" name="credit_lens"/>
          <p:cNvSpPr txBox="1"/>
          <p:nvPr/>
        </p:nvSpPr>
        <p:spPr>
          <a:xfrm>
            <a:off x="8101584" y="45720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Lens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project and guarantee documentation reflects owner-imposed cyber and notification terms.</a:t>
            </a:r>
            <a:endParaRPr lang="en-US" sz="1200" dirty="0"/>
          </a:p>
        </p:txBody>
      </p:sp>
      <p:sp>
        <p:nvSpPr>
          <p:cNvPr id="9" name="limitation"/>
          <p:cNvSpPr txBox="1"/>
          <p:nvPr/>
        </p:nvSpPr>
        <p:spPr>
          <a:xfrm>
            <a:off x="457200" y="53766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 in source edition: US sector cyber rules beyond SEC disclosure, supervisory priorities and national NIS2 scope extensions.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5925312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source_strip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S-030, S-032 to S-042, S-046, S-047 (Tier 1) - Period: legal milestones 2016-2027; status at 14 Oct 2026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228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Financial Impact of Cyber Incidents</a:t>
            </a:r>
            <a:endParaRPr lang="en-US" sz="1400" dirty="0"/>
          </a:p>
        </p:txBody>
      </p:sp>
      <p:sp>
        <p:nvSpPr>
          <p:cNvPr id="3" name="section"/>
          <p:cNvSpPr txBox="1"/>
          <p:nvPr/>
        </p:nvSpPr>
        <p:spPr>
          <a:xfrm>
            <a:off x="4846320" y="228600"/>
            <a:ext cx="688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- Resilience and financial implications  |  Migrated 1.0-M</a:t>
            </a:r>
            <a:endParaRPr lang="en-US" sz="1050" dirty="0"/>
          </a:p>
        </p:txBody>
      </p:sp>
      <p:sp>
        <p:nvSpPr>
          <p:cNvPr id="4" name="headline"/>
          <p:cNvSpPr txBox="1"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financial evidence is thin and cannot be added up; the evidence suggests time - weeks of site downtime and months of owner disruption - is the main cost driver.</a:t>
            </a:r>
            <a:endParaRPr lang="en-US" sz="2000" dirty="0"/>
          </a:p>
        </p:txBody>
      </p:sp>
      <p:graphicFrame>
        <p:nvGraphicFramePr>
          <p:cNvPr id="10" name="visual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4027018"/>
                <a:gridCol w="2483510"/>
                <a:gridCol w="2349094"/>
                <a:gridCol w="241584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and caveat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Kensington and Chelsea recovery costs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GBP 1.2m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2025/26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Accounts; further costs unquantified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Kensington and Chelsea planning outage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2025-Mar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from two official dates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Kensington and Chelsea revenues and benefits outage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six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2025-Jun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 end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Miljödata GDPR 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 1.8m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outcome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ransomware downtime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days average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Insurer research; method undisclosed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Interserve fine; recovery and advisory fees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GBP 4.4m; GBP 7m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incident, 2022 penalty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Historical; fees secondary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Akira ransom proceeds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244.17m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late Sep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Criminal revenue, all sectors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 payments by sector firms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 in source edition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Five-year cost trend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supportable from source edition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"/>
          <p:cNvSpPr txBox="1"/>
          <p:nvPr/>
        </p:nvSpPr>
        <p:spPr>
          <a:xfrm>
            <a:off x="457200" y="416052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In-period quantified outcomes come from one public owner and one regulator; no contractor or supplier disclosed a cyber-driven cost, delay or contractual effect.</a:t>
            </a:r>
            <a:endParaRPr lang="en-US" sz="1250" dirty="0"/>
          </a:p>
        </p:txBody>
      </p:sp>
      <p:sp>
        <p:nvSpPr>
          <p:cNvPr id="7" name="significance"/>
          <p:cNvSpPr txBox="1"/>
          <p:nvPr/>
        </p:nvSpPr>
        <p:spPr>
          <a:xfrm>
            <a:off x="4279392" y="416052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differ in currency, statistic type and population and are never summed; no sector loss estimate is produced.</a:t>
            </a:r>
            <a:endParaRPr lang="en-US" sz="1250" dirty="0"/>
          </a:p>
        </p:txBody>
      </p:sp>
      <p:sp>
        <p:nvSpPr>
          <p:cNvPr id="8" name="credit_lens"/>
          <p:cNvSpPr txBox="1"/>
          <p:nvPr/>
        </p:nvSpPr>
        <p:spPr>
          <a:xfrm>
            <a:off x="8101584" y="416052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Lens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duration and liquidity: how long a borrower could operate and collect cash without key systems or owner payments.</a:t>
            </a:r>
            <a:endParaRPr lang="en-US" sz="1250" dirty="0"/>
          </a:p>
        </p:txBody>
      </p:sp>
      <p:sp>
        <p:nvSpPr>
          <p:cNvPr id="9" name="limitation"/>
          <p:cNvSpPr txBox="1"/>
          <p:nvPr/>
        </p:nvSpPr>
        <p:spPr>
          <a:xfrm>
            <a:off x="457200" y="53766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disclosure is a gap, not evidence of zero loss; ransom payments and multi-year trends are not covered in source edition.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5925312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source_strip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S-005, S-006, S-007, S-008, S-010, S-022, S-030 (Tier 1); S-018, S-019 (Tier 2) - Period: 2020-Sep 2026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228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Cyber-to-Credit Risk Transmission &amp; Stress Scenarios</a:t>
            </a:r>
            <a:endParaRPr lang="en-US" sz="1400" dirty="0"/>
          </a:p>
        </p:txBody>
      </p:sp>
      <p:sp>
        <p:nvSpPr>
          <p:cNvPr id="3" name="section"/>
          <p:cNvSpPr txBox="1"/>
          <p:nvPr/>
        </p:nvSpPr>
        <p:spPr>
          <a:xfrm>
            <a:off x="4846320" y="228600"/>
            <a:ext cx="688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- not a forecast or loss estimate   </a:t>
            </a:r>
            <a:pPr algn="r" indent="0" marL="0">
              <a:buNone/>
            </a:pPr>
            <a:r>
              <a:rPr lang="en-US" sz="10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- Resilience and financial implications  |  Migrated 1.0-M</a:t>
            </a:r>
            <a:endParaRPr lang="en-US" sz="1050" dirty="0"/>
          </a:p>
        </p:txBody>
      </p:sp>
      <p:sp>
        <p:nvSpPr>
          <p:cNvPr id="4" name="headline"/>
          <p:cNvSpPr txBox="1"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disruption reaches debt service through delayed certification and payment, programme slippage and supplier default; duration evidence supports only part of the 1-, 4- and 8-week bands.</a:t>
            </a:r>
            <a:endParaRPr lang="en-US" sz="2000" dirty="0"/>
          </a:p>
        </p:txBody>
      </p:sp>
      <p:graphicFrame>
        <p:nvGraphicFramePr>
          <p:cNvPr id="11" name="visual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269480" cy="914400"/>
        </p:xfrm>
        <a:graphic>
          <a:graphicData uri="http://schemas.openxmlformats.org/drawingml/2006/table">
            <a:tbl>
              <a:tblPr/>
              <a:tblGrid>
                <a:gridCol w="2120494"/>
                <a:gridCol w="1730959"/>
                <a:gridCol w="1730959"/>
                <a:gridCol w="168798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dependency: shared platform or cloud availability failure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Multi-day outage; 77% tolerate no more than five days without project 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not evidenced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not evidenced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disruption: major contractor or public-works operator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the legacy one-to-four-week band; one US town reportedly restored a plant in about 90 minutes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the legacy band; ransomware downtime averaged about 24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not evidenced for this mechanism; owner-side case restoration took about 15 weeks to six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Supply-chain concentration: shared supplier compromise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not evidenced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not evidenced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4A4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not evidenced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_significance_credit"/>
          <p:cNvSpPr txBox="1"/>
          <p:nvPr/>
        </p:nvSpPr>
        <p:spPr>
          <a:xfrm>
            <a:off x="8001000" y="1481328"/>
            <a:ext cx="37307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Transmission: disruption -&gt; programme and site operations -&gt; valuations and owner payments -&gt; contractor cash flow and working capital -&gt; margins and claims -&gt; facility drawdown and debt service.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Offsets in the source edition: offline copies, manual fallback, OT segregation and supplier segregation limit propagation.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Lens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data needed: dependence on public-owner payments, platform and supplier concentration, programme milestones and liquidity headroom.</a:t>
            </a:r>
            <a:endParaRPr lang="en-US" sz="1300" dirty="0"/>
          </a:p>
        </p:txBody>
      </p:sp>
      <p:sp>
        <p:nvSpPr>
          <p:cNvPr id="7" name="limitation"/>
          <p:cNvSpPr txBox="1"/>
          <p:nvPr/>
        </p:nvSpPr>
        <p:spPr>
          <a:xfrm>
            <a:off x="457200" y="53766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- not a forecast or loss estimate; no probabilities; bands marked duration not evidenced have no support in the source edition.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5925312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source_strip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S-001, S-005, S-013, S-027, S-029, S-031 (Tier 1); S-018 (Tier 2); S-014 (Tier 3) - Period: 2023 survey to Oct 2026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228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Questionnaire-to-Sector Intelligence Mapping</a:t>
            </a:r>
            <a:endParaRPr lang="en-US" sz="1400" dirty="0"/>
          </a:p>
        </p:txBody>
      </p:sp>
      <p:sp>
        <p:nvSpPr>
          <p:cNvPr id="3" name="section"/>
          <p:cNvSpPr txBox="1"/>
          <p:nvPr/>
        </p:nvSpPr>
        <p:spPr>
          <a:xfrm>
            <a:off x="4846320" y="228600"/>
            <a:ext cx="688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  </a:t>
            </a:r>
            <a:pPr algn="r" indent="0" marL="0">
              <a:buNone/>
            </a:pPr>
            <a:r>
              <a:rPr lang="en-US" sz="10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- Credit process integration  |  Migrated 1.0-M</a:t>
            </a:r>
            <a:endParaRPr lang="en-US" sz="1050" dirty="0"/>
          </a:p>
        </p:txBody>
      </p:sp>
      <p:sp>
        <p:nvSpPr>
          <p:cNvPr id="4" name="headline"/>
          <p:cNvSpPr txBox="1"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map: six generic questionnaire topics derived from the source edition link sector threats to credit consequences; no approved questionnaire was supplied.</a:t>
            </a:r>
            <a:endParaRPr lang="en-US" sz="2000" dirty="0"/>
          </a:p>
        </p:txBody>
      </p:sp>
      <p:graphicFrame>
        <p:nvGraphicFramePr>
          <p:cNvPr id="12" name="visual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2751430"/>
                <a:gridCol w="2617013"/>
                <a:gridCol w="2684678"/>
                <a:gridCol w="322143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 ID and topic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and incident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-&gt; credit consequence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PROV-01 Owner and third-party dependency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P3; Kensington and Chelsea, Miljödata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Consents and payments stop -&gt; working-capital strain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owners, platforms and cloud regions do you rely on, and can you certify and invoice without them for 30 days?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PROV-02 Identity and remote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P2; Akira advisory routes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entry and data theft -&gt; outage and breach costs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MFA enforced on all remote access, and are edge and backup systems patched?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PROV-03 OT and site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P4; Minnesota, Bremanger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or site stoppage -&gt; delay damages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OT inventoried, removed from internet exposure and segregated from IT?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PROV-04 Payment controls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P5; police construction BEC alert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Diverted stage payments -&gt; cash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payment-detail changes confirmed out of band?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PROV-05 Contractual cyber terms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NIS2, CER and procurement flow-down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Owner-term breach -&gt; claims or exclusion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contracts reflect owner cyber and notification terms?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PROV-06 Continuity of time-sensitive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P1; Femern reported idle vessels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milestones -&gt; liquidated damages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manual fallback tested for access, positioning and scheduling?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"/>
          <p:cNvSpPr txBox="1"/>
          <p:nvPr/>
        </p:nvSpPr>
        <p:spPr>
          <a:xfrm>
            <a:off x="457200" y="455371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source edition's six mitigation actions (A1-A6) and five threat patterns (P1-P5); PROV IDs are placeholders, not questionnaire items.</a:t>
            </a:r>
            <a:endParaRPr lang="en-US" sz="1200" dirty="0"/>
          </a:p>
        </p:txBody>
      </p:sp>
      <p:sp>
        <p:nvSpPr>
          <p:cNvPr id="7" name="significance"/>
          <p:cNvSpPr txBox="1"/>
          <p:nvPr/>
        </p:nvSpPr>
        <p:spPr>
          <a:xfrm>
            <a:off x="4279392" y="455371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that change materiality: revenue share from public owners, reliance on one platform or supplier, OT exposure, stage-payment volume and time-sensitive milestones.</a:t>
            </a:r>
            <a:endParaRPr lang="en-US" sz="1200" dirty="0"/>
          </a:p>
        </p:txBody>
      </p:sp>
      <p:sp>
        <p:nvSpPr>
          <p:cNvPr id="8" name="credit_lens"/>
          <p:cNvSpPr txBox="1"/>
          <p:nvPr/>
        </p:nvSpPr>
        <p:spPr>
          <a:xfrm>
            <a:off x="8101584" y="455371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Lens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answers are self-reported, are not confirmed evidence and never trigger an automatic adverse credit judgement.</a:t>
            </a:r>
            <a:endParaRPr lang="en-US" sz="1200" dirty="0"/>
          </a:p>
        </p:txBody>
      </p:sp>
      <p:sp>
        <p:nvSpPr>
          <p:cNvPr id="9" name="limitation"/>
          <p:cNvSpPr txBox="1"/>
          <p:nvPr/>
        </p:nvSpPr>
        <p:spPr>
          <a:xfrm>
            <a:off x="457200" y="53766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Provisional: no questionnaire item list was supplied; the map must be rebuilt against actual question IDs.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5925312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source_strip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S-005, S-010, S-012, S-013, S-017, S-022, S-026, S-032, S-038 (Tier 1); S-018 (Tier 2) - Period: Apr 2025-Oct 2026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228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Credit Officer Engagement: Key Questions &amp; Actions</a:t>
            </a:r>
            <a:endParaRPr lang="en-US" sz="1400" dirty="0"/>
          </a:p>
        </p:txBody>
      </p:sp>
      <p:sp>
        <p:nvSpPr>
          <p:cNvPr id="3" name="section"/>
          <p:cNvSpPr txBox="1"/>
          <p:nvPr/>
        </p:nvSpPr>
        <p:spPr>
          <a:xfrm>
            <a:off x="4846320" y="228600"/>
            <a:ext cx="688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- Credit process integration  |  Migrated 1.0-M</a:t>
            </a:r>
            <a:endParaRPr lang="en-US" sz="1050" dirty="0"/>
          </a:p>
        </p:txBody>
      </p:sp>
      <p:sp>
        <p:nvSpPr>
          <p:cNvPr id="4" name="headline"/>
          <p:cNvSpPr txBox="1"/>
          <p:nvPr/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client discussion topics, with early-warning indicators and referral triggers, turn sector evidence into proportionate borrower engagement.</a:t>
            </a:r>
            <a:endParaRPr lang="en-US" sz="2000" dirty="0"/>
          </a:p>
        </p:txBody>
      </p:sp>
      <p:graphicFrame>
        <p:nvGraphicFramePr>
          <p:cNvPr id="13" name="visual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269480" cy="914400"/>
        </p:xfrm>
        <a:graphic>
          <a:graphicData uri="http://schemas.openxmlformats.org/drawingml/2006/table">
            <a:tbl>
              <a:tblPr/>
              <a:tblGrid>
                <a:gridCol w="1730959"/>
                <a:gridCol w="2293315"/>
                <a:gridCol w="1644091"/>
                <a:gridCol w="16011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 topic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for the 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Early-warning indicator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referral trigger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Owner and platform dependency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certify and invoice for 30 days without your main owners and platforms?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or platform incident notice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 on one owner or platform without tested fallback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Remote access and patching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MFA on all remote access, with edge and backup systems patched?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joint advisory on edge flaws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access without MFA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OT and site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controllers off the internet and OT segregated from IT?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 alert on exposed 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Internet-exposed controllers reported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Payment controls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payment-detail changes confirmed out of band?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Police alert naming construction BEC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out-of-band confirmation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Programme milestones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milestones would a one-to-four-week outage cross?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notice on a major programme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Outage would cross a contractual milestone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vidence_significance_credit"/>
          <p:cNvSpPr txBox="1"/>
          <p:nvPr/>
        </p:nvSpPr>
        <p:spPr>
          <a:xfrm>
            <a:off x="8001000" y="1481328"/>
            <a:ext cx="37307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also include leak-site claims above the Q2 2026 baseline of 176 construction claims per quarter, the UK bill, NIS2 court rulings, procurement adoption and first CRA reporting.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resilience improvements: dependency mapping, MFA and patching, OT segregation, payment-change confirmation, contractual flow-down and tested fallback.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Lens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Proportionate next steps: raise the topics at review, record answers as self-reported, escalate to the Risk Committee when an indicator fires.</a:t>
            </a:r>
            <a:endParaRPr lang="en-US" sz="1300" dirty="0"/>
          </a:p>
        </p:txBody>
      </p:sp>
      <p:sp>
        <p:nvSpPr>
          <p:cNvPr id="7" name="limitation"/>
          <p:cNvSpPr txBox="1"/>
          <p:nvPr/>
        </p:nvSpPr>
        <p:spPr>
          <a:xfrm>
            <a:off x="457200" y="53766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are sector-informed priorities, not findings on any borrower's controls or creditworthiness; referral triggers are reframed from the source edition.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5925312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source_strip"/>
          <p:cNvSpPr txBox="1"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S-001, S-012, S-013, S-022, S-026, S-033, S-036, S-038, S-039 (Tier 1); S-020 (Tier 2) - Period: Nov 2025-Oct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t Intelligence Emerald">
  <a:themeElements>
    <a:clrScheme name="Credit Intelligence Emerald">
      <a:dk1>
        <a:srgbClr val="1A1A1A"/>
      </a:dk1>
      <a:lt1>
        <a:srgbClr val="FFFFFF"/>
      </a:lt1>
      <a:dk2>
        <a:srgbClr val="4A4F55"/>
      </a:dk2>
      <a:lt2>
        <a:srgbClr val="F2F2F2"/>
      </a:lt2>
      <a:accent1>
        <a:srgbClr val="00915E"/>
      </a:accent1>
      <a:accent2>
        <a:srgbClr val="1A1A1A"/>
      </a:accent2>
      <a:accent3>
        <a:srgbClr val="6B7280"/>
      </a:accent3>
      <a:accent4>
        <a:srgbClr val="9CA3AF"/>
      </a:accent4>
      <a:accent5>
        <a:srgbClr val="D9D9D9"/>
      </a:accent5>
      <a:accent6>
        <a:srgbClr val="0B6E4F"/>
      </a:accent6>
      <a:hlink>
        <a:srgbClr val="00915E"/>
      </a:hlink>
      <a:folHlink>
        <a:srgbClr val="0B6E4F"/>
      </a:folHlink>
    </a:clrScheme>
    <a:fontScheme name="Credit Intelligence Emeral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&amp; Public Works - Sector Cyber Resilience &amp; Credit Intelligence (migrated 1.0-M)</dc:title>
  <dc:subject>PptxGenJS Presentation</dc:subject>
  <dc:creator>PptxGenJS</dc:creator>
  <cp:lastModifiedBy>PptxGenJS</cp:lastModifiedBy>
  <cp:revision>1</cp:revision>
  <dcterms:created xsi:type="dcterms:W3CDTF">2026-10-27T10:02:00Z</dcterms:created>
  <dcterms:modified xsi:type="dcterms:W3CDTF">2026-10-27T10:02:00Z</dcterms:modified>
</cp:coreProperties>
</file>